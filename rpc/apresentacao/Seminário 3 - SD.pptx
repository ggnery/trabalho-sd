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Roboto Black"/>
      <p:bold r:id="rId26"/>
      <p:boldItalic r:id="rId27"/>
    </p:embeddedFont>
    <p:embeddedFont>
      <p:font typeface="Raleway"/>
      <p:regular r:id="rId28"/>
      <p:bold r:id="rId29"/>
      <p:italic r:id="rId30"/>
      <p:boldItalic r:id="rId31"/>
    </p:embeddedFont>
    <p:embeddedFont>
      <p:font typeface="Roboto Thin"/>
      <p:regular r:id="rId32"/>
      <p:bold r:id="rId33"/>
      <p:italic r:id="rId34"/>
      <p:boldItalic r:id="rId35"/>
    </p:embeddedFont>
    <p:embeddedFont>
      <p:font typeface="Roboto"/>
      <p:regular r:id="rId36"/>
      <p:bold r:id="rId37"/>
      <p:italic r:id="rId38"/>
      <p:boldItalic r:id="rId39"/>
    </p:embeddedFont>
    <p:embeddedFont>
      <p:font typeface="Raleway Medium"/>
      <p:regular r:id="rId40"/>
      <p:bold r:id="rId41"/>
      <p:italic r:id="rId42"/>
      <p:boldItalic r:id="rId43"/>
    </p:embeddedFont>
    <p:embeddedFont>
      <p:font typeface="Roboto Light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Medium-regular.fntdata"/><Relationship Id="rId20" Type="http://schemas.openxmlformats.org/officeDocument/2006/relationships/slide" Target="slides/slide16.xml"/><Relationship Id="rId42" Type="http://schemas.openxmlformats.org/officeDocument/2006/relationships/font" Target="fonts/RalewayMedium-italic.fntdata"/><Relationship Id="rId41" Type="http://schemas.openxmlformats.org/officeDocument/2006/relationships/font" Target="fonts/RalewayMedium-bold.fntdata"/><Relationship Id="rId22" Type="http://schemas.openxmlformats.org/officeDocument/2006/relationships/slide" Target="slides/slide18.xml"/><Relationship Id="rId44" Type="http://schemas.openxmlformats.org/officeDocument/2006/relationships/font" Target="fonts/RobotoLight-regular.fntdata"/><Relationship Id="rId21" Type="http://schemas.openxmlformats.org/officeDocument/2006/relationships/slide" Target="slides/slide17.xml"/><Relationship Id="rId43" Type="http://schemas.openxmlformats.org/officeDocument/2006/relationships/font" Target="fonts/RalewayMedium-boldItalic.fntdata"/><Relationship Id="rId24" Type="http://schemas.openxmlformats.org/officeDocument/2006/relationships/slide" Target="slides/slide20.xml"/><Relationship Id="rId46" Type="http://schemas.openxmlformats.org/officeDocument/2006/relationships/font" Target="fonts/RobotoLight-italic.fntdata"/><Relationship Id="rId23" Type="http://schemas.openxmlformats.org/officeDocument/2006/relationships/slide" Target="slides/slide19.xml"/><Relationship Id="rId45" Type="http://schemas.openxmlformats.org/officeDocument/2006/relationships/font" Target="fonts/Roboto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Black-bold.fntdata"/><Relationship Id="rId25" Type="http://schemas.openxmlformats.org/officeDocument/2006/relationships/slide" Target="slides/slide21.xml"/><Relationship Id="rId47" Type="http://schemas.openxmlformats.org/officeDocument/2006/relationships/font" Target="fonts/RobotoLight-boldItalic.fntdata"/><Relationship Id="rId28" Type="http://schemas.openxmlformats.org/officeDocument/2006/relationships/font" Target="fonts/Raleway-regular.fntdata"/><Relationship Id="rId27" Type="http://schemas.openxmlformats.org/officeDocument/2006/relationships/font" Target="fonts/RobotoBlac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7.xml"/><Relationship Id="rId33" Type="http://schemas.openxmlformats.org/officeDocument/2006/relationships/font" Target="fonts/RobotoThin-bold.fntdata"/><Relationship Id="rId10" Type="http://schemas.openxmlformats.org/officeDocument/2006/relationships/slide" Target="slides/slide6.xml"/><Relationship Id="rId32" Type="http://schemas.openxmlformats.org/officeDocument/2006/relationships/font" Target="fonts/RobotoThin-regular.fntdata"/><Relationship Id="rId13" Type="http://schemas.openxmlformats.org/officeDocument/2006/relationships/slide" Target="slides/slide9.xml"/><Relationship Id="rId35" Type="http://schemas.openxmlformats.org/officeDocument/2006/relationships/font" Target="fonts/RobotoThin-boldItalic.fntdata"/><Relationship Id="rId12" Type="http://schemas.openxmlformats.org/officeDocument/2006/relationships/slide" Target="slides/slide8.xml"/><Relationship Id="rId34" Type="http://schemas.openxmlformats.org/officeDocument/2006/relationships/font" Target="fonts/RobotoThin-italic.fntdata"/><Relationship Id="rId15" Type="http://schemas.openxmlformats.org/officeDocument/2006/relationships/slide" Target="slides/slide11.xml"/><Relationship Id="rId37" Type="http://schemas.openxmlformats.org/officeDocument/2006/relationships/font" Target="fonts/Roboto-bold.fntdata"/><Relationship Id="rId14" Type="http://schemas.openxmlformats.org/officeDocument/2006/relationships/slide" Target="slides/slide10.xml"/><Relationship Id="rId36" Type="http://schemas.openxmlformats.org/officeDocument/2006/relationships/font" Target="fonts/Roboto-regular.fntdata"/><Relationship Id="rId17" Type="http://schemas.openxmlformats.org/officeDocument/2006/relationships/slide" Target="slides/slide13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2.xml"/><Relationship Id="rId38" Type="http://schemas.openxmlformats.org/officeDocument/2006/relationships/font" Target="fonts/Roboto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Nesta seção tratamos da COMUNICAÇÃO DIRETA, em que cliente e servidor conversam sem intermediários. Ela é síncrona (o cliente envia a requisição e espera a resposta) e acoplada: os dois precisam estar ativos ao mesmo tempo (acoplamento temporal) e o cliente precisa saber quem é o servidor (acoplamento espacial). O principal paradigma é a RPC — Chamada de Procedimento Remoto —, proposta por Birrell e Nelson em 1984, cuja ideia é chamar um procedimento em outra máquina como se fosse uma função local. Ao longo da apresentação usamos o gRPC, framework moderno do Google, como exemplo. No fim, contrastamos com a comunicação indireta (filas e publish-subscribe), tema da próxima seção, que é assíncrona e desacoplada.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Antes do RPC, programar uma chamada em rede era trabalhoso: o desenvolvedor precisava abrir e gerenciar sockets, converter manualmente cada dado para bytes (e de volta), combinar exatamente o formato das mensagens entre cliente e servidor e ainda tratar perdas, timeouts e falhas de rede no meio do código da aplicação. O RPC resolve isso escondendo tudo atrás de uma simples chamada de função: você escreve soma(3, 4) e os stubs cuidam do empacotamento e da troca de mensagens. Esse é o objetivo central da RPC — a TRANSPARÊNCIA de distribuição: tornar a programação de chamadas remotas tão parecida quanto possível com a programação local. O gRPC é a materialização moderna dessa ideia.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RPC permite ao cliente chamar um procedimento que roda em outro processo, possivelmente em outra máquina, usando a MESMA SINTAXE de uma chamada local. Na figura: à esquerda, a chamada local acontece dentro do mesmo processo; à direita, a chamada remota atravessa a rede entre dois processos. Três peças fazem isso funcionar: o STUB, um 'procurador' local que se parece com o procedimento real e repassa a chamada; o MARSHALLING (empacotamento), que converte os argumentos para bytes que trafegam na rede; e o PROTOCOLO REQUISIÇÃO-RESPOSTA, que leva a mensagem de ida e traz o resultado. O grande valor é a TRANSPARÊNCIA: o programador não vê a rede nem o empacotamento — parece uma chamada de função comum.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gRPC é o framework de RPC do Google, open source desde 2015 e derivado do sistema interno Stubby. Usa HTTP/2 como transporte — o que permite multiplexar várias chamadas numa mesma conexão, com menos latência — e Protocol Buffers para serializar os dados de forma binária e compacta. A partir do contrato, gera stubs prontos para 11+ linguagens. Oferece quatro tipos de chamada: UNÁRIA (uma requisição, uma resposta — o RPC clássico); STREAMING DO SERVIDOR (uma requisição, várias respostas — ex.: enviar uma lista ou acompanhar progresso); STREAMING DO CLIENTE (várias requisições, uma resposta — ex.: enviar um fluxo de dados/upload); e BIDIRECIONAL (os dois lados enviam fluxos ao mesmo tempo — ex.: chat). O streaming só é possível por causa do HTTP/2.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O contrato do gRPC é escrito em Protocol Buffers, num arquivo .proto. Aqui definimos o serviço Calculadora com o método Soma, que recebe uma mensagem Requisicao (inteiros a e b) e devolve uma Resposta (o resultado). Os números após cada campo (=1, =2) são TAGS que identificam o campo no formato binário — não são valores. A partir do .proto, o compilador protoc gera automaticamente os stubs do cliente e do servidor, além do código de serialização. Como o contrato é neutro, cliente e servidor podem estar em linguagens diferentes. Note que os dados entram e saem pelas MENSAGENS: não há passagem por referência, porque endereços de memória não fazem sentido em outra máquina.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Este diagrama mostra a sequência de uma chamada unária. (1) A aplicação chama o método no stub como se fosse local. (2) O stub do cliente serializa os argumentos com Protocol Buffers e envia a requisição por HTTP/2. (3) No servidor, o stub recebe, desserializa e (4) invoca o serviço real, que executa 3+4=7. (5) O resultado volta ao stub do servidor, (6) que o serializa e responde por HTTP/2, e (7) o stub do cliente desserializa e devolve o valor ao programa. A chamada é SÍNCRONA: o cliente fica bloqueado do passo 1 ao 7. Linhas cheias são envios; tracejadas são retornos. Todo o empacotamento e a rede ficam escondidos pelos stubs.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Aqui vemos os componentes de forma estática. No processo cliente, a aplicação chama o stub, que serializa os argumentos (marshalling) com Protocol Buffers. A mensagem viaja por HTTP/2 até o processo servidor, onde o stub do servidor desserializa e entrega ao serviço, que executa e devolve o resultado pelo caminho inverso. O ponto central: tanto o stub do cliente quanto o do servidor são GERADOS AUTOMATICAMENTE pelo protoc a partir do arquivo .proto — o programador não escreve nada de rede nem de serialização, apenas chama soma(3, 4). É isso que dá a transparência da RPC.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Como a chamada atravessa a rede, ela pode falhar — a requisição ou a resposta podem se perder, ou o servidor pode cair. Conforme as medidas de tolerância a falhas, há três semânticas (Coulouris, cap. 5). TALVEZ: sem nenhuma medida — a chamada pode ou não ter executado (a mais fraca). PELO MENOS UMA VEZ: reenvia a requisição até obter resposta, o que pode executar a operação mais de uma vez — por isso exige operações IDEMPOTENTES (repetir não muda o resultado, ex.: 'definir saldo = 100'). NO MÁXIMO UMA VEZ: além de reenviar, filtra duplicatas, garantindo execução no máximo uma vez. No gRPC isso é prático: se você ativar retentativas (retries), a operação pode ser reexecutada; então prefira operações idempotentes e use deadlines/timeouts para não esperar indefinidamente.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Exemplo concreto da soma. ENTRADA: o cliente chama Soma(a=3, b=4) no stub gerado; o Protocol Buffers serializa e a mensagem é enviada por HTTP/2. PROCESSAMENTO: o servidor desserializa, invoca o serviço, executa 3+4=7 e serializa a resposta. SAÍDA: o stub do cliente desserializa e devolve resultado = 7 ao programa — que ficou bloqueado esperando, por ser chamada unária. Ponto didático: para quem programa, foi só Soma(3, 4); toda a serialização, o HTTP/2 e a rede ficaram escondidos. Essa é a transparência da RPC na prática.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gRPC é amplamente usado em produção: Google, Netflix, Square, Cisco e o próprio Kubernetes/etcd — é projeto da CNCF. O padrão típico (na figura): o cliente externo fala com a BORDA do sistema por REST/HTTP através de um API Gateway; INTERNAMENTE, os microsserviços conversam entre si por gRPC, que é mais rápido (HTTP/2 + Protobuf binário) e tipado (contratos .proto). Benefícios: desempenho, contratos fortes com geração de código em várias linguagens e suporte a streaming. No projeto da AWS, isso se traduz em rodar os microsserviços em ECS/EKS usando gRPC internamente, mantendo REST/API Gateway na borda para os clientes.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563725" y="1218900"/>
            <a:ext cx="6303000" cy="13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97525" y="2530375"/>
            <a:ext cx="63030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913575" y="4698625"/>
            <a:ext cx="3230550" cy="445650"/>
          </a:xfrm>
          <a:custGeom>
            <a:rect b="b" l="l" r="r" t="t"/>
            <a:pathLst>
              <a:path extrusionOk="0" h="17826" w="129222">
                <a:moveTo>
                  <a:pt x="129222" y="17795"/>
                </a:moveTo>
                <a:lnTo>
                  <a:pt x="0" y="17826"/>
                </a:lnTo>
                <a:lnTo>
                  <a:pt x="9278" y="0"/>
                </a:lnTo>
                <a:close/>
              </a:path>
            </a:pathLst>
          </a:custGeom>
          <a:solidFill>
            <a:srgbClr val="D7ECF8"/>
          </a:solid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-850" y="3540100"/>
            <a:ext cx="6184100" cy="1157675"/>
          </a:xfrm>
          <a:custGeom>
            <a:rect b="b" l="l" r="r" t="t"/>
            <a:pathLst>
              <a:path extrusionOk="0" h="46307" w="247364">
                <a:moveTo>
                  <a:pt x="34" y="9423"/>
                </a:moveTo>
                <a:lnTo>
                  <a:pt x="245855" y="46307"/>
                </a:lnTo>
                <a:lnTo>
                  <a:pt x="247364" y="43457"/>
                </a:lnTo>
                <a:lnTo>
                  <a:pt x="0" y="0"/>
                </a:lnTo>
                <a:close/>
              </a:path>
            </a:pathLst>
          </a:custGeom>
          <a:solidFill>
            <a:srgbClr val="81C2EA"/>
          </a:solidFill>
          <a:ln>
            <a:noFill/>
          </a:ln>
        </p:spPr>
      </p:sp>
      <p:sp>
        <p:nvSpPr>
          <p:cNvPr id="16" name="Google Shape;16;p2"/>
          <p:cNvSpPr txBox="1"/>
          <p:nvPr/>
        </p:nvSpPr>
        <p:spPr>
          <a:xfrm>
            <a:off x="370000" y="192800"/>
            <a:ext cx="32976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Sistemas Distribuídos 2026/03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27467" l="0" r="0" t="27467"/>
          <a:stretch/>
        </p:blipFill>
        <p:spPr>
          <a:xfrm>
            <a:off x="271504" y="4300976"/>
            <a:ext cx="1675950" cy="566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right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-600" y="-600"/>
            <a:ext cx="9145200" cy="5144700"/>
          </a:xfrm>
          <a:custGeom>
            <a:rect b="b" l="l" r="r" t="t"/>
            <a:pathLst>
              <a:path extrusionOk="0" h="205788" w="365808">
                <a:moveTo>
                  <a:pt x="24" y="0"/>
                </a:moveTo>
                <a:lnTo>
                  <a:pt x="306348" y="24"/>
                </a:lnTo>
                <a:lnTo>
                  <a:pt x="365808" y="205764"/>
                </a:lnTo>
                <a:lnTo>
                  <a:pt x="0" y="2057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" y="0"/>
            <a:ext cx="91452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7650950" y="0"/>
            <a:ext cx="1381725" cy="4706550"/>
          </a:xfrm>
          <a:custGeom>
            <a:rect b="b" l="l" r="r" t="t"/>
            <a:pathLst>
              <a:path extrusionOk="0" h="188262" w="55269">
                <a:moveTo>
                  <a:pt x="5953" y="0"/>
                </a:moveTo>
                <a:lnTo>
                  <a:pt x="55269" y="188262"/>
                </a:lnTo>
                <a:lnTo>
                  <a:pt x="54507" y="18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3"/>
          <p:cNvSpPr/>
          <p:nvPr/>
        </p:nvSpPr>
        <p:spPr>
          <a:xfrm flipH="1">
            <a:off x="8259600" y="4081536"/>
            <a:ext cx="884400" cy="10620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8259589" y="4259122"/>
            <a:ext cx="884400" cy="8844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11826" l="0" r="0" t="11826"/>
          <a:stretch/>
        </p:blipFill>
        <p:spPr>
          <a:xfrm>
            <a:off x="7990068" y="234350"/>
            <a:ext cx="1000832" cy="57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3817050" y="450150"/>
            <a:ext cx="4783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502975" y="1582375"/>
            <a:ext cx="98100" cy="18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0" l="2049" r="72682" t="0"/>
          <a:stretch/>
        </p:blipFill>
        <p:spPr>
          <a:xfrm>
            <a:off x="0" y="0"/>
            <a:ext cx="23086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-600" y="-1200"/>
            <a:ext cx="9157100" cy="5154875"/>
          </a:xfrm>
          <a:custGeom>
            <a:rect b="b" l="l" r="r" t="t"/>
            <a:pathLst>
              <a:path extrusionOk="0" h="206195" w="366284">
                <a:moveTo>
                  <a:pt x="0" y="205812"/>
                </a:moveTo>
                <a:lnTo>
                  <a:pt x="0" y="37553"/>
                </a:lnTo>
                <a:lnTo>
                  <a:pt x="365784" y="0"/>
                </a:lnTo>
                <a:lnTo>
                  <a:pt x="366284" y="2061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50" y="4500"/>
            <a:ext cx="914684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/>
        </p:nvSpPr>
        <p:spPr>
          <a:xfrm>
            <a:off x="-650" y="31275"/>
            <a:ext cx="8944500" cy="915275"/>
          </a:xfrm>
          <a:custGeom>
            <a:rect b="b" l="l" r="r" t="t"/>
            <a:pathLst>
              <a:path extrusionOk="0" h="36611" w="357780">
                <a:moveTo>
                  <a:pt x="2" y="36611"/>
                </a:moveTo>
                <a:lnTo>
                  <a:pt x="0" y="29328"/>
                </a:lnTo>
                <a:lnTo>
                  <a:pt x="346522" y="500"/>
                </a:lnTo>
                <a:lnTo>
                  <a:pt x="3577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Google Shape;38;p5"/>
          <p:cNvSpPr/>
          <p:nvPr/>
        </p:nvSpPr>
        <p:spPr>
          <a:xfrm rot="10800000">
            <a:off x="8142000" y="-25"/>
            <a:ext cx="1002000" cy="8814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 rot="10800000">
            <a:off x="8141988" y="-99"/>
            <a:ext cx="1002000" cy="734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24594" l="0" r="0" t="24593"/>
          <a:stretch/>
        </p:blipFill>
        <p:spPr>
          <a:xfrm>
            <a:off x="126000" y="134900"/>
            <a:ext cx="1218601" cy="4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>
            <p:ph type="title"/>
          </p:nvPr>
        </p:nvSpPr>
        <p:spPr>
          <a:xfrm>
            <a:off x="1157075" y="1450825"/>
            <a:ext cx="59793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eorgia"/>
              <a:buNone/>
              <a:defRPr b="0" i="1" sz="30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1565854" y="4042972"/>
            <a:ext cx="6460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" name="Google Shape;43;p5"/>
          <p:cNvSpPr txBox="1"/>
          <p:nvPr/>
        </p:nvSpPr>
        <p:spPr>
          <a:xfrm>
            <a:off x="7310850" y="421150"/>
            <a:ext cx="12186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20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374750" y="3992875"/>
            <a:ext cx="575400" cy="501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-800" y="-9075"/>
            <a:ext cx="9157300" cy="5154875"/>
          </a:xfrm>
          <a:custGeom>
            <a:rect b="b" l="l" r="r" t="t"/>
            <a:pathLst>
              <a:path extrusionOk="0" h="206195" w="366292">
                <a:moveTo>
                  <a:pt x="8" y="383"/>
                </a:moveTo>
                <a:lnTo>
                  <a:pt x="0" y="172858"/>
                </a:lnTo>
                <a:lnTo>
                  <a:pt x="365792" y="206195"/>
                </a:lnTo>
                <a:lnTo>
                  <a:pt x="366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7" name="Google Shape;47;p6"/>
          <p:cNvPicPr preferRelativeResize="0"/>
          <p:nvPr/>
        </p:nvPicPr>
        <p:blipFill rotWithShape="1">
          <a:blip r:embed="rId2">
            <a:alphaModFix amt="46000"/>
          </a:blip>
          <a:srcRect b="0" l="0" r="0" t="1235"/>
          <a:stretch/>
        </p:blipFill>
        <p:spPr>
          <a:xfrm flipH="1" rot="10800000">
            <a:off x="-650" y="57871"/>
            <a:ext cx="9146849" cy="5085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624850" y="1447025"/>
            <a:ext cx="36111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4832400" y="1447075"/>
            <a:ext cx="36867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" name="Google Shape;51;p6"/>
          <p:cNvSpPr/>
          <p:nvPr/>
        </p:nvSpPr>
        <p:spPr>
          <a:xfrm>
            <a:off x="-600" y="4269800"/>
            <a:ext cx="8944450" cy="845050"/>
          </a:xfrm>
          <a:custGeom>
            <a:rect b="b" l="l" r="r" t="t"/>
            <a:pathLst>
              <a:path extrusionOk="0" h="33802" w="357778">
                <a:moveTo>
                  <a:pt x="24" y="0"/>
                </a:moveTo>
                <a:lnTo>
                  <a:pt x="0" y="5182"/>
                </a:lnTo>
                <a:lnTo>
                  <a:pt x="346520" y="33302"/>
                </a:lnTo>
                <a:lnTo>
                  <a:pt x="357778" y="33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Google Shape;52;p6"/>
          <p:cNvSpPr/>
          <p:nvPr/>
        </p:nvSpPr>
        <p:spPr>
          <a:xfrm flipH="1">
            <a:off x="8162397" y="4367375"/>
            <a:ext cx="981600" cy="7764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 flipH="1">
            <a:off x="8162400" y="4497174"/>
            <a:ext cx="981600" cy="6465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3">
            <a:alphaModFix/>
          </a:blip>
          <a:srcRect b="14490" l="0" r="0" t="14483"/>
          <a:stretch/>
        </p:blipFill>
        <p:spPr>
          <a:xfrm>
            <a:off x="78675" y="4555038"/>
            <a:ext cx="997002" cy="53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522716" y="4846456"/>
            <a:ext cx="2496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(right)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2743200" y="-125"/>
            <a:ext cx="6400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265500" y="462700"/>
            <a:ext cx="21891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>
            <a:off x="265500" y="2803075"/>
            <a:ext cx="2189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Roboto"/>
              <a:buNone/>
              <a:defRPr sz="21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3105500" y="724075"/>
            <a:ext cx="56709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 flipH="1">
            <a:off x="1898999" y="-125"/>
            <a:ext cx="18163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(left)">
  <p:cSld name="SECTION_TITLE_AND_DESCRIPTION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0" y="-125"/>
            <a:ext cx="6400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 txBox="1"/>
          <p:nvPr>
            <p:ph type="title"/>
          </p:nvPr>
        </p:nvSpPr>
        <p:spPr>
          <a:xfrm>
            <a:off x="6669800" y="1233175"/>
            <a:ext cx="22134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1" name="Google Shape;71;p10"/>
          <p:cNvSpPr txBox="1"/>
          <p:nvPr>
            <p:ph idx="1" type="subTitle"/>
          </p:nvPr>
        </p:nvSpPr>
        <p:spPr>
          <a:xfrm>
            <a:off x="6669925" y="2803075"/>
            <a:ext cx="22134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10"/>
          <p:cNvSpPr txBox="1"/>
          <p:nvPr>
            <p:ph idx="2" type="body"/>
          </p:nvPr>
        </p:nvSpPr>
        <p:spPr>
          <a:xfrm>
            <a:off x="367500" y="724075"/>
            <a:ext cx="55533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5422360" y="-125"/>
            <a:ext cx="18163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03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b="36317" l="2049" r="72682" t="39131"/>
          <a:stretch/>
        </p:blipFill>
        <p:spPr>
          <a:xfrm rot="5400000">
            <a:off x="565625" y="522899"/>
            <a:ext cx="2308649" cy="126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329565" y="483441"/>
            <a:ext cx="5737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i="0" sz="2400" u="none" cap="none" strike="noStrik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39737" y="1286541"/>
            <a:ext cx="8264400" cy="3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None/>
              <a:defRPr i="0" sz="2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522716" y="4846456"/>
            <a:ext cx="2496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5C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b="0" i="0" sz="2800" u="none" cap="none" strike="noStrike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F3F3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CA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563725" y="2445375"/>
            <a:ext cx="63030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en-US" sz="1300"/>
              <a:t>Autores</a:t>
            </a:r>
            <a:endParaRPr b="0" sz="1300"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563725" y="1241475"/>
            <a:ext cx="63030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300">
                <a:latin typeface="Roboto Black"/>
                <a:ea typeface="Roboto Black"/>
                <a:cs typeface="Roboto Black"/>
                <a:sym typeface="Roboto Black"/>
              </a:rPr>
              <a:t>Título</a:t>
            </a:r>
            <a:endParaRPr sz="23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3" name="Google Shape;93;p14"/>
          <p:cNvSpPr txBox="1"/>
          <p:nvPr>
            <p:ph type="ctrTitle"/>
          </p:nvPr>
        </p:nvSpPr>
        <p:spPr>
          <a:xfrm>
            <a:off x="832825" y="3009975"/>
            <a:ext cx="576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en-US" sz="1200"/>
              <a:t>Instituto de Informática, Universidade Federal de Goiás, Brasil</a:t>
            </a:r>
            <a:endParaRPr b="0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Sumário</a:t>
            </a:r>
            <a:endParaRPr/>
          </a:p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628275" y="1152475"/>
            <a:ext cx="664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▸"/>
            </a:pPr>
            <a:r>
              <a:rPr lang="en-US"/>
              <a:t>Introdução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▸"/>
            </a:pPr>
            <a:r>
              <a:rPr lang="en-US"/>
              <a:t>Desenvolvimento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66666"/>
              </a:buClr>
              <a:buSzPts val="2000"/>
              <a:buFont typeface="Karla"/>
              <a:buChar char="▸"/>
            </a:pPr>
            <a:r>
              <a:rPr lang="en-US"/>
              <a:t>Conclusão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817050" y="450150"/>
            <a:ext cx="4783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Comunicação Direta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en-US" sz="1400"/>
              <a:t>Cliente e servidor interagem </a:t>
            </a:r>
            <a:r>
              <a:rPr b="1" lang="en-US" sz="1400">
                <a:solidFill>
                  <a:srgbClr val="3F3F3F"/>
                </a:solidFill>
              </a:rPr>
              <a:t>diretamente</a:t>
            </a:r>
            <a:r>
              <a:rPr b="0" lang="en-US" sz="1400"/>
              <a:t>, de forma </a:t>
            </a:r>
            <a:r>
              <a:rPr b="1" lang="en-US" sz="1400">
                <a:solidFill>
                  <a:srgbClr val="3F3F3F"/>
                </a:solidFill>
              </a:rPr>
              <a:t>síncrona</a:t>
            </a:r>
            <a:r>
              <a:rPr b="0" lang="en-US" sz="1400"/>
              <a:t> e </a:t>
            </a:r>
            <a:r>
              <a:rPr b="1" lang="en-US" sz="1400">
                <a:solidFill>
                  <a:srgbClr val="3F3F3F"/>
                </a:solidFill>
              </a:rPr>
              <a:t>acoplada</a:t>
            </a:r>
            <a:r>
              <a:rPr b="0" lang="en-US" sz="1400"/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0" lang="en-US" sz="1400"/>
              <a:t>Principal paradigma: </a:t>
            </a:r>
            <a:r>
              <a:rPr b="1" lang="en-US" sz="1400">
                <a:solidFill>
                  <a:srgbClr val="005CA1"/>
                </a:solidFill>
              </a:rPr>
              <a:t>RPC — Chamada de Procedimento Remoto</a:t>
            </a:r>
            <a:r>
              <a:rPr b="0" lang="en-US" sz="1400"/>
              <a:t> (Birrell &amp; Nelson, 1984).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-US" sz="1400"/>
              <a:t>Exemplo moderno desta apresentação: </a:t>
            </a:r>
            <a:r>
              <a:rPr b="1" lang="en-US" sz="1400">
                <a:solidFill>
                  <a:srgbClr val="005CA1"/>
                </a:solidFill>
              </a:rPr>
              <a:t>gRPC</a:t>
            </a:r>
            <a:r>
              <a:rPr b="0" lang="en-US" sz="1400"/>
              <a:t> (Google).</a:t>
            </a:r>
            <a:endParaRPr/>
          </a:p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310896" y="248716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DIRETA (RPC) — esta seção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402336" y="2724912"/>
            <a:ext cx="1051560" cy="475488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2688336" y="2724912"/>
            <a:ext cx="1051560" cy="475488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>
            <a:off x="1453896" y="2962656"/>
            <a:ext cx="1234440" cy="0"/>
          </a:xfrm>
          <a:prstGeom prst="straightConnector1">
            <a:avLst/>
          </a:prstGeom>
          <a:noFill/>
          <a:ln cap="flat" cmpd="sng" w="2030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17"/>
          <p:cNvSpPr txBox="1"/>
          <p:nvPr/>
        </p:nvSpPr>
        <p:spPr>
          <a:xfrm>
            <a:off x="1408176" y="2990088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chamada direta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4105656" y="2724912"/>
            <a:ext cx="3246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síncrono · acoplado no tempo e no espaço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310896" y="344728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98A8"/>
                </a:solidFill>
                <a:latin typeface="Arial"/>
                <a:ea typeface="Arial"/>
                <a:cs typeface="Arial"/>
                <a:sym typeface="Arial"/>
              </a:rPr>
              <a:t>INDIRETA — próxima seção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02336" y="3685032"/>
            <a:ext cx="1005840" cy="47548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276856" y="3685032"/>
            <a:ext cx="1325880" cy="475488"/>
          </a:xfrm>
          <a:prstGeom prst="roundRect">
            <a:avLst>
              <a:gd fmla="val 12000" name="adj"/>
            </a:avLst>
          </a:prstGeom>
          <a:solidFill>
            <a:srgbClr val="F2F5F8"/>
          </a:solidFill>
          <a:ln cap="flat" cmpd="sng" w="12700">
            <a:solidFill>
              <a:srgbClr val="8A9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intermediário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4288536" y="3685032"/>
            <a:ext cx="1005840" cy="47548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>
            <a:off x="1408176" y="3922776"/>
            <a:ext cx="868680" cy="0"/>
          </a:xfrm>
          <a:prstGeom prst="straightConnector1">
            <a:avLst/>
          </a:prstGeom>
          <a:noFill/>
          <a:ln cap="flat" cmpd="sng" w="17775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17"/>
          <p:cNvCxnSpPr/>
          <p:nvPr/>
        </p:nvCxnSpPr>
        <p:spPr>
          <a:xfrm>
            <a:off x="3602736" y="3922776"/>
            <a:ext cx="685800" cy="0"/>
          </a:xfrm>
          <a:prstGeom prst="straightConnector1">
            <a:avLst/>
          </a:prstGeom>
          <a:noFill/>
          <a:ln cap="flat" cmpd="sng" w="17775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17"/>
          <p:cNvSpPr txBox="1"/>
          <p:nvPr/>
        </p:nvSpPr>
        <p:spPr>
          <a:xfrm>
            <a:off x="5431536" y="368503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assíncrono · desacoplado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 problema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310896" y="1280160"/>
            <a:ext cx="3401568" cy="2487168"/>
          </a:xfrm>
          <a:prstGeom prst="roundRect">
            <a:avLst>
              <a:gd fmla="val 5000" name="adj"/>
            </a:avLst>
          </a:prstGeom>
          <a:solidFill>
            <a:srgbClr val="FAF0DF"/>
          </a:solidFill>
          <a:ln cap="flat" cmpd="sng" w="12700">
            <a:solidFill>
              <a:srgbClr val="E7C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30352" y="1426463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6A22"/>
                </a:solidFill>
                <a:latin typeface="Arial"/>
                <a:ea typeface="Arial"/>
                <a:cs typeface="Arial"/>
                <a:sym typeface="Arial"/>
              </a:rPr>
              <a:t>SEM RPC</a:t>
            </a:r>
            <a:r>
              <a:rPr b="1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— comunicação “na mão”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30352" y="1847088"/>
            <a:ext cx="2999232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06A22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Abrir sockets e gerenciar conexões manualmente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06A22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Converter cada dado para bytes e de volta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06A22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Combinar o formato exato das mensagens nos dois lados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06A22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Tratar perdas, timeouts e falhas de rede no código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3931920" y="1280160"/>
            <a:ext cx="3401568" cy="2487168"/>
          </a:xfrm>
          <a:prstGeom prst="roundRect">
            <a:avLst>
              <a:gd fmla="val 5000" name="adj"/>
            </a:avLst>
          </a:prstGeom>
          <a:solidFill>
            <a:srgbClr val="E8F3E9"/>
          </a:solidFill>
          <a:ln cap="flat" cmpd="sng" w="12700">
            <a:solidFill>
              <a:srgbClr val="B9DE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4151376" y="1426463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COM RPC</a:t>
            </a:r>
            <a:r>
              <a:rPr b="1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— como se fosse local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4151376" y="1847088"/>
            <a:ext cx="2999232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 programador só chama a função: soma(3, 4)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Os stubs empacotam/desempacotam os dados por você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 troca de mensagens fica escondida (transparência)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Mesmo estilo da programação comum, agora em rede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310896" y="3913632"/>
            <a:ext cx="7022592" cy="548640"/>
          </a:xfrm>
          <a:prstGeom prst="roundRect">
            <a:avLst>
              <a:gd fmla="val 6000" name="adj"/>
            </a:avLst>
          </a:prstGeom>
          <a:solidFill>
            <a:srgbClr val="005C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585216" y="3913632"/>
            <a:ext cx="6473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RPC = transparência de distribuição: </a:t>
            </a:r>
            <a:r>
              <a:rPr b="0" i="0" lang="en-US" sz="1150" u="none" cap="none" strike="noStrike">
                <a:solidFill>
                  <a:srgbClr val="DCEBF7"/>
                </a:solidFill>
                <a:latin typeface="Arial"/>
                <a:ea typeface="Arial"/>
                <a:cs typeface="Arial"/>
                <a:sym typeface="Arial"/>
              </a:rPr>
              <a:t>chamadas em rede tão simples quanto uma função local.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 que é RPC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310896" y="1170432"/>
            <a:ext cx="7022592" cy="530352"/>
          </a:xfrm>
          <a:prstGeom prst="roundRect">
            <a:avLst>
              <a:gd fmla="val 6000" name="adj"/>
            </a:avLst>
          </a:prstGeom>
          <a:solidFill>
            <a:srgbClr val="E7F1F9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512064" y="1170432"/>
            <a:ext cx="6620255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RPC</a:t>
            </a:r>
            <a:r>
              <a:rPr b="0" i="0" lang="en-US" sz="11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chamar um procedimento executado em </a:t>
            </a:r>
            <a:r>
              <a:rPr b="1" i="0" lang="en-US" sz="11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outro processo / máquina</a:t>
            </a:r>
            <a:r>
              <a:rPr b="0" i="0" lang="en-US" sz="11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b="1" i="0" lang="en-US" sz="11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mesma sintaxe</a:t>
            </a:r>
            <a:r>
              <a:rPr b="0" i="0" lang="en-US" sz="11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de uma chamada local.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310896" y="1865376"/>
            <a:ext cx="3017520" cy="1847088"/>
          </a:xfrm>
          <a:prstGeom prst="roundRect">
            <a:avLst>
              <a:gd fmla="val 5000" name="adj"/>
            </a:avLst>
          </a:prstGeom>
          <a:solidFill>
            <a:srgbClr val="F2F5F8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493776" y="195681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Chamada LOCAL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12064" y="2414016"/>
            <a:ext cx="2615184" cy="115214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512064" y="2459736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8A98A8"/>
                </a:solidFill>
                <a:latin typeface="Arial"/>
                <a:ea typeface="Arial"/>
                <a:cs typeface="Arial"/>
                <a:sym typeface="Arial"/>
              </a:rPr>
              <a:t>mesmo processo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694944" y="2798064"/>
            <a:ext cx="1005840" cy="585216"/>
          </a:xfrm>
          <a:prstGeom prst="roundRect">
            <a:avLst>
              <a:gd fmla="val 14000" name="adj"/>
            </a:avLst>
          </a:prstGeom>
          <a:solidFill>
            <a:srgbClr val="E7F1F9"/>
          </a:solidFill>
          <a:ln cap="flat" cmpd="sng" w="11425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chamador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1938528" y="2798064"/>
            <a:ext cx="1005840" cy="585216"/>
          </a:xfrm>
          <a:prstGeom prst="roundRect">
            <a:avLst>
              <a:gd fmla="val 14000" name="adj"/>
            </a:avLst>
          </a:prstGeom>
          <a:solidFill>
            <a:srgbClr val="E7F1F9"/>
          </a:solidFill>
          <a:ln cap="flat" cmpd="sng" w="11425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procedi-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mento</a:t>
            </a:r>
            <a:endParaRPr/>
          </a:p>
        </p:txBody>
      </p:sp>
      <p:cxnSp>
        <p:nvCxnSpPr>
          <p:cNvPr id="153" name="Google Shape;153;p19"/>
          <p:cNvCxnSpPr/>
          <p:nvPr/>
        </p:nvCxnSpPr>
        <p:spPr>
          <a:xfrm>
            <a:off x="1700784" y="3090672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p19"/>
          <p:cNvSpPr/>
          <p:nvPr/>
        </p:nvSpPr>
        <p:spPr>
          <a:xfrm>
            <a:off x="3648456" y="1865376"/>
            <a:ext cx="3685031" cy="1847088"/>
          </a:xfrm>
          <a:prstGeom prst="roundRect">
            <a:avLst>
              <a:gd fmla="val 5000" name="adj"/>
            </a:avLst>
          </a:prstGeom>
          <a:solidFill>
            <a:srgbClr val="F2F5F8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831335" y="1956816"/>
            <a:ext cx="3319271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Chamada REMOTA (RPC)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3831335" y="2395728"/>
            <a:ext cx="1371600" cy="1170432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3831335" y="244144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8A98A8"/>
                </a:solidFill>
                <a:latin typeface="Arial"/>
                <a:ea typeface="Arial"/>
                <a:cs typeface="Arial"/>
                <a:sym typeface="Arial"/>
              </a:rPr>
              <a:t>processo cliente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3977639" y="2779776"/>
            <a:ext cx="1078992" cy="64008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1425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chamador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79007" y="2395728"/>
            <a:ext cx="1371600" cy="1170432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779007" y="244144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8A98A8"/>
                </a:solidFill>
                <a:latin typeface="Arial"/>
                <a:ea typeface="Arial"/>
                <a:cs typeface="Arial"/>
                <a:sym typeface="Arial"/>
              </a:rPr>
              <a:t>processo servidor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925312" y="2779776"/>
            <a:ext cx="1078992" cy="64008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1425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procedi-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mento</a:t>
            </a:r>
            <a:endParaRPr/>
          </a:p>
        </p:txBody>
      </p:sp>
      <p:cxnSp>
        <p:nvCxnSpPr>
          <p:cNvPr id="162" name="Google Shape;162;p19"/>
          <p:cNvCxnSpPr/>
          <p:nvPr/>
        </p:nvCxnSpPr>
        <p:spPr>
          <a:xfrm>
            <a:off x="5202936" y="2962656"/>
            <a:ext cx="576071" cy="0"/>
          </a:xfrm>
          <a:prstGeom prst="straightConnector1">
            <a:avLst/>
          </a:prstGeom>
          <a:noFill/>
          <a:ln cap="flat" cmpd="sng" w="1905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19"/>
          <p:cNvCxnSpPr/>
          <p:nvPr/>
        </p:nvCxnSpPr>
        <p:spPr>
          <a:xfrm rot="10800000">
            <a:off x="5202936" y="3236976"/>
            <a:ext cx="576071" cy="0"/>
          </a:xfrm>
          <a:prstGeom prst="straightConnector1">
            <a:avLst/>
          </a:prstGeom>
          <a:noFill/>
          <a:ln cap="flat" cmpd="sng" w="15875">
            <a:solidFill>
              <a:srgbClr val="9AA6B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64" name="Google Shape;164;p19"/>
          <p:cNvSpPr txBox="1"/>
          <p:nvPr/>
        </p:nvSpPr>
        <p:spPr>
          <a:xfrm>
            <a:off x="5202936" y="3346704"/>
            <a:ext cx="57607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80" u="none" cap="none" strike="noStrike">
                <a:solidFill>
                  <a:srgbClr val="8A98A8"/>
                </a:solidFill>
                <a:latin typeface="Arial"/>
                <a:ea typeface="Arial"/>
                <a:cs typeface="Arial"/>
                <a:sym typeface="Arial"/>
              </a:rPr>
              <a:t>rede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310896" y="3785616"/>
            <a:ext cx="2243328" cy="640080"/>
          </a:xfrm>
          <a:prstGeom prst="roundRect">
            <a:avLst>
              <a:gd fmla="val 6000" name="adj"/>
            </a:avLst>
          </a:prstGeom>
          <a:solidFill>
            <a:srgbClr val="F2F5F8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10896" y="3785616"/>
            <a:ext cx="64008" cy="64008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493776" y="3867912"/>
            <a:ext cx="195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Stub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procurador local: recebe a chamada e a repassa pela rede.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2700528" y="3785616"/>
            <a:ext cx="2243328" cy="640080"/>
          </a:xfrm>
          <a:prstGeom prst="roundRect">
            <a:avLst>
              <a:gd fmla="val 6000" name="adj"/>
            </a:avLst>
          </a:prstGeom>
          <a:solidFill>
            <a:srgbClr val="F2F5F8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700528" y="3785616"/>
            <a:ext cx="64008" cy="64008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2883408" y="3867912"/>
            <a:ext cx="195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Marshalling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empacota os argumentos num formato de bytes para a rede.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090160" y="3785616"/>
            <a:ext cx="2243328" cy="640080"/>
          </a:xfrm>
          <a:prstGeom prst="roundRect">
            <a:avLst>
              <a:gd fmla="val 6000" name="adj"/>
            </a:avLst>
          </a:prstGeom>
          <a:solidFill>
            <a:srgbClr val="F2F5F8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090160" y="3785616"/>
            <a:ext cx="64008" cy="64008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273040" y="3867912"/>
            <a:ext cx="1950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Requisição–resposta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protocolo que leva a chamada e traz o resultado.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gRPC: o RPC moderno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310896" y="1170432"/>
            <a:ext cx="7022592" cy="658368"/>
          </a:xfrm>
          <a:prstGeom prst="roundRect">
            <a:avLst>
              <a:gd fmla="val 6000" name="adj"/>
            </a:avLst>
          </a:prstGeom>
          <a:solidFill>
            <a:srgbClr val="E7F1F9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12064" y="1170432"/>
            <a:ext cx="66202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gRPC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(Google, 2015): usa </a:t>
            </a:r>
            <a:r>
              <a:rPr b="1" i="0" lang="en-US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HTTP/2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(multiplexa várias chamadas numa conexão) e </a:t>
            </a:r>
            <a:r>
              <a:rPr b="1" i="0" lang="en-US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Protocol Buffers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(dados binários e compactos); o compilador gera stubs para 11+ linguagens.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310896" y="1920240"/>
            <a:ext cx="7022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Quatro tipos de chamada: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310896" y="2157984"/>
            <a:ext cx="3392424" cy="110642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10896" y="2157984"/>
            <a:ext cx="3392424" cy="27432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Unária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457200" y="2665475"/>
            <a:ext cx="603504" cy="36576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015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2953512" y="2665475"/>
            <a:ext cx="603504" cy="36576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015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/>
          </a:p>
        </p:txBody>
      </p:sp>
      <p:cxnSp>
        <p:nvCxnSpPr>
          <p:cNvPr id="186" name="Google Shape;186;p20"/>
          <p:cNvCxnSpPr/>
          <p:nvPr/>
        </p:nvCxnSpPr>
        <p:spPr>
          <a:xfrm>
            <a:off x="1078992" y="2711196"/>
            <a:ext cx="1856232" cy="0"/>
          </a:xfrm>
          <a:prstGeom prst="straightConnector1">
            <a:avLst/>
          </a:prstGeom>
          <a:noFill/>
          <a:ln cap="flat" cmpd="sng" w="17775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20"/>
          <p:cNvCxnSpPr/>
          <p:nvPr/>
        </p:nvCxnSpPr>
        <p:spPr>
          <a:xfrm rot="10800000">
            <a:off x="1078992" y="2985515"/>
            <a:ext cx="1856232" cy="0"/>
          </a:xfrm>
          <a:prstGeom prst="straightConnector1">
            <a:avLst/>
          </a:prstGeom>
          <a:noFill/>
          <a:ln cap="flat" cmpd="sng" w="17775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20"/>
          <p:cNvSpPr txBox="1"/>
          <p:nvPr/>
        </p:nvSpPr>
        <p:spPr>
          <a:xfrm>
            <a:off x="310896" y="3081527"/>
            <a:ext cx="33924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 req · 1 resp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3941063" y="2157984"/>
            <a:ext cx="3392424" cy="110642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941063" y="2157984"/>
            <a:ext cx="3392424" cy="27432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Streaming do servidor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087368" y="2665475"/>
            <a:ext cx="603504" cy="36576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015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6583679" y="2665475"/>
            <a:ext cx="603504" cy="36576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015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/>
          </a:p>
        </p:txBody>
      </p:sp>
      <p:cxnSp>
        <p:nvCxnSpPr>
          <p:cNvPr id="193" name="Google Shape;193;p20"/>
          <p:cNvCxnSpPr/>
          <p:nvPr/>
        </p:nvCxnSpPr>
        <p:spPr>
          <a:xfrm>
            <a:off x="4709159" y="2711196"/>
            <a:ext cx="1856233" cy="0"/>
          </a:xfrm>
          <a:prstGeom prst="straightConnector1">
            <a:avLst/>
          </a:prstGeom>
          <a:noFill/>
          <a:ln cap="flat" cmpd="sng" w="17775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20"/>
          <p:cNvCxnSpPr/>
          <p:nvPr/>
        </p:nvCxnSpPr>
        <p:spPr>
          <a:xfrm rot="10800000">
            <a:off x="4709159" y="2907791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20"/>
          <p:cNvCxnSpPr/>
          <p:nvPr/>
        </p:nvCxnSpPr>
        <p:spPr>
          <a:xfrm rot="10800000">
            <a:off x="4709159" y="2985515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 rot="10800000">
            <a:off x="4709159" y="3063239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20"/>
          <p:cNvSpPr txBox="1"/>
          <p:nvPr/>
        </p:nvSpPr>
        <p:spPr>
          <a:xfrm>
            <a:off x="3941063" y="3081527"/>
            <a:ext cx="33924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 req · N resp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310896" y="3465576"/>
            <a:ext cx="3392424" cy="110642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10896" y="3465576"/>
            <a:ext cx="3392424" cy="27432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Streaming do cliente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457200" y="3973068"/>
            <a:ext cx="603504" cy="36576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015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2953512" y="3973068"/>
            <a:ext cx="603504" cy="36576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015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/>
          </a:p>
        </p:txBody>
      </p:sp>
      <p:cxnSp>
        <p:nvCxnSpPr>
          <p:cNvPr id="202" name="Google Shape;202;p20"/>
          <p:cNvCxnSpPr/>
          <p:nvPr/>
        </p:nvCxnSpPr>
        <p:spPr>
          <a:xfrm>
            <a:off x="1078992" y="3941063"/>
            <a:ext cx="1856232" cy="0"/>
          </a:xfrm>
          <a:prstGeom prst="straightConnector1">
            <a:avLst/>
          </a:prstGeom>
          <a:noFill/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1078992" y="4018787"/>
            <a:ext cx="1856232" cy="0"/>
          </a:xfrm>
          <a:prstGeom prst="straightConnector1">
            <a:avLst/>
          </a:prstGeom>
          <a:noFill/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20"/>
          <p:cNvCxnSpPr/>
          <p:nvPr/>
        </p:nvCxnSpPr>
        <p:spPr>
          <a:xfrm>
            <a:off x="1078992" y="4096511"/>
            <a:ext cx="1856232" cy="0"/>
          </a:xfrm>
          <a:prstGeom prst="straightConnector1">
            <a:avLst/>
          </a:prstGeom>
          <a:noFill/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20"/>
          <p:cNvCxnSpPr/>
          <p:nvPr/>
        </p:nvCxnSpPr>
        <p:spPr>
          <a:xfrm rot="10800000">
            <a:off x="1078992" y="4293108"/>
            <a:ext cx="1856232" cy="0"/>
          </a:xfrm>
          <a:prstGeom prst="straightConnector1">
            <a:avLst/>
          </a:prstGeom>
          <a:noFill/>
          <a:ln cap="flat" cmpd="sng" w="17775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" name="Google Shape;206;p20"/>
          <p:cNvSpPr txBox="1"/>
          <p:nvPr/>
        </p:nvSpPr>
        <p:spPr>
          <a:xfrm>
            <a:off x="310896" y="4389120"/>
            <a:ext cx="33924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 req · 1 resp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3941063" y="3465576"/>
            <a:ext cx="3392424" cy="110642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941063" y="3465576"/>
            <a:ext cx="3392424" cy="27432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Bidirecional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087368" y="3973068"/>
            <a:ext cx="603504" cy="36576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015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583679" y="3973068"/>
            <a:ext cx="603504" cy="365760"/>
          </a:xfrm>
          <a:prstGeom prst="roundRect">
            <a:avLst>
              <a:gd fmla="val 12000" name="adj"/>
            </a:avLst>
          </a:prstGeom>
          <a:solidFill>
            <a:srgbClr val="E7F1F9"/>
          </a:solidFill>
          <a:ln cap="flat" cmpd="sng" w="1015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/>
          </a:p>
        </p:txBody>
      </p:sp>
      <p:cxnSp>
        <p:nvCxnSpPr>
          <p:cNvPr id="211" name="Google Shape;211;p20"/>
          <p:cNvCxnSpPr/>
          <p:nvPr/>
        </p:nvCxnSpPr>
        <p:spPr>
          <a:xfrm>
            <a:off x="4709159" y="3941063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4709159" y="4018787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p20"/>
          <p:cNvCxnSpPr/>
          <p:nvPr/>
        </p:nvCxnSpPr>
        <p:spPr>
          <a:xfrm>
            <a:off x="4709159" y="4096511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20"/>
          <p:cNvCxnSpPr/>
          <p:nvPr/>
        </p:nvCxnSpPr>
        <p:spPr>
          <a:xfrm rot="10800000">
            <a:off x="4709159" y="4215384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" name="Google Shape;215;p20"/>
          <p:cNvCxnSpPr/>
          <p:nvPr/>
        </p:nvCxnSpPr>
        <p:spPr>
          <a:xfrm rot="10800000">
            <a:off x="4709159" y="4293108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6" name="Google Shape;216;p20"/>
          <p:cNvCxnSpPr/>
          <p:nvPr/>
        </p:nvCxnSpPr>
        <p:spPr>
          <a:xfrm rot="10800000">
            <a:off x="4709159" y="4370832"/>
            <a:ext cx="1856233" cy="0"/>
          </a:xfrm>
          <a:prstGeom prst="straightConnector1">
            <a:avLst/>
          </a:prstGeom>
          <a:noFill/>
          <a:ln cap="flat" cmpd="sng" w="127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" name="Google Shape;217;p20"/>
          <p:cNvSpPr txBox="1"/>
          <p:nvPr/>
        </p:nvSpPr>
        <p:spPr>
          <a:xfrm>
            <a:off x="3941063" y="4389120"/>
            <a:ext cx="33924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 ⇄ 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Protocol Buffers (.proto)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310896" y="1188720"/>
            <a:ext cx="3840480" cy="3246120"/>
          </a:xfrm>
          <a:prstGeom prst="roundRect">
            <a:avLst>
              <a:gd fmla="val 4000" name="adj"/>
            </a:avLst>
          </a:prstGeom>
          <a:solidFill>
            <a:srgbClr val="0E2A3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12064" y="1353312"/>
            <a:ext cx="347472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syntax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000" u="none" cap="none" strike="noStrike">
                <a:solidFill>
                  <a:srgbClr val="9FE0B0"/>
                </a:solidFill>
                <a:latin typeface="Consolas"/>
                <a:ea typeface="Consolas"/>
                <a:cs typeface="Consolas"/>
                <a:sym typeface="Consolas"/>
              </a:rPr>
              <a:t>"proto3"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5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service</a:t>
            </a:r>
            <a:r>
              <a:rPr b="0" i="0" lang="en-US" sz="1000" u="none" cap="none" strike="noStrike">
                <a:solidFill>
                  <a:srgbClr val="FFCF7A"/>
                </a:solidFill>
                <a:latin typeface="Consolas"/>
                <a:ea typeface="Consolas"/>
                <a:cs typeface="Consolas"/>
                <a:sym typeface="Consolas"/>
              </a:rPr>
              <a:t> Calculadora 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  rpc</a:t>
            </a:r>
            <a:r>
              <a:rPr b="0" i="0" lang="en-US" sz="1000" u="none" cap="none" strike="noStrike">
                <a:solidFill>
                  <a:srgbClr val="E7EEF6"/>
                </a:solidFill>
                <a:latin typeface="Consolas"/>
                <a:ea typeface="Consolas"/>
                <a:cs typeface="Consolas"/>
                <a:sym typeface="Consolas"/>
              </a:rPr>
              <a:t> Soma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(Requisicao) </a:t>
            </a: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returns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 (Resposta);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5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b="0" i="0" lang="en-US" sz="1000" u="none" cap="none" strike="noStrike">
                <a:solidFill>
                  <a:srgbClr val="FFCF7A"/>
                </a:solidFill>
                <a:latin typeface="Consolas"/>
                <a:ea typeface="Consolas"/>
                <a:cs typeface="Consolas"/>
                <a:sym typeface="Consolas"/>
              </a:rPr>
              <a:t> Requisicao 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  int32</a:t>
            </a:r>
            <a:r>
              <a:rPr b="0" i="0" lang="en-US" sz="1000" u="none" cap="none" strike="noStrike">
                <a:solidFill>
                  <a:srgbClr val="E7EEF6"/>
                </a:solidFill>
                <a:latin typeface="Consolas"/>
                <a:ea typeface="Consolas"/>
                <a:cs typeface="Consolas"/>
                <a:sym typeface="Consolas"/>
              </a:rPr>
              <a:t> a = </a:t>
            </a:r>
            <a:r>
              <a:rPr b="0" i="0" lang="en-US" sz="1000" u="none" cap="none" strike="noStrike">
                <a:solidFill>
                  <a:srgbClr val="9FE0B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   int32</a:t>
            </a:r>
            <a:r>
              <a:rPr b="0" i="0" lang="en-US" sz="1000" u="none" cap="none" strike="noStrike">
                <a:solidFill>
                  <a:srgbClr val="E7EEF6"/>
                </a:solidFill>
                <a:latin typeface="Consolas"/>
                <a:ea typeface="Consolas"/>
                <a:cs typeface="Consolas"/>
                <a:sym typeface="Consolas"/>
              </a:rPr>
              <a:t> b = </a:t>
            </a:r>
            <a:r>
              <a:rPr b="0" i="0" lang="en-US" sz="1000" u="none" cap="none" strike="noStrike">
                <a:solidFill>
                  <a:srgbClr val="9FE0B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b="0" i="0" lang="en-US" sz="1000" u="none" cap="none" strike="noStrike">
                <a:solidFill>
                  <a:srgbClr val="FFCF7A"/>
                </a:solidFill>
                <a:latin typeface="Consolas"/>
                <a:ea typeface="Consolas"/>
                <a:cs typeface="Consolas"/>
                <a:sym typeface="Consolas"/>
              </a:rPr>
              <a:t> Resposta 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B6E6"/>
                </a:solidFill>
                <a:latin typeface="Consolas"/>
                <a:ea typeface="Consolas"/>
                <a:cs typeface="Consolas"/>
                <a:sym typeface="Consolas"/>
              </a:rPr>
              <a:t>  int32</a:t>
            </a:r>
            <a:r>
              <a:rPr b="0" i="0" lang="en-US" sz="1000" u="none" cap="none" strike="noStrike">
                <a:solidFill>
                  <a:srgbClr val="E7EEF6"/>
                </a:solidFill>
                <a:latin typeface="Consolas"/>
                <a:ea typeface="Consolas"/>
                <a:cs typeface="Consolas"/>
                <a:sym typeface="Consolas"/>
              </a:rPr>
              <a:t> resultado = </a:t>
            </a:r>
            <a:r>
              <a:rPr b="0" i="0" lang="en-US" sz="1000" u="none" cap="none" strike="noStrike">
                <a:solidFill>
                  <a:srgbClr val="9FE0B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6E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471416" y="1225296"/>
            <a:ext cx="286207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Protocol Buffers</a:t>
            </a:r>
            <a:r>
              <a:rPr b="0" i="0" lang="en-US" sz="13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é a IDL do gRPC.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▸  </a:t>
            </a:r>
            <a:r>
              <a:rPr b="1" i="0" lang="en-US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Contrato neutro — </a:t>
            </a: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define o serviço e as mensagens; independe de linguagem.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▸  </a:t>
            </a:r>
            <a:r>
              <a:rPr b="1" i="0" lang="en-US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protoc gera os stubs — </a:t>
            </a: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cliente e servidor, em várias linguagens.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▸  </a:t>
            </a:r>
            <a:r>
              <a:rPr b="1" i="0" lang="en-US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Serialização binária — </a:t>
            </a: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compacta e rápida na rede.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▸  </a:t>
            </a:r>
            <a:r>
              <a:rPr b="1" i="0" lang="en-US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Entrada / saída — </a:t>
            </a: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trafegam pelas mensagens (sem passagem por referência).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Diagrama de sequência</a:t>
            </a:r>
            <a:endParaRPr/>
          </a:p>
        </p:txBody>
      </p:sp>
      <p:cxnSp>
        <p:nvCxnSpPr>
          <p:cNvPr id="231" name="Google Shape;231;p22"/>
          <p:cNvCxnSpPr/>
          <p:nvPr/>
        </p:nvCxnSpPr>
        <p:spPr>
          <a:xfrm>
            <a:off x="3749039" y="1901952"/>
            <a:ext cx="0" cy="2368296"/>
          </a:xfrm>
          <a:prstGeom prst="straightConnector1">
            <a:avLst/>
          </a:prstGeom>
          <a:noFill/>
          <a:ln cap="flat" cmpd="sng" w="12700">
            <a:solidFill>
              <a:srgbClr val="81C2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2" name="Google Shape;232;p22"/>
          <p:cNvSpPr/>
          <p:nvPr/>
        </p:nvSpPr>
        <p:spPr>
          <a:xfrm>
            <a:off x="342899" y="1170432"/>
            <a:ext cx="1417320" cy="457200"/>
          </a:xfrm>
          <a:prstGeom prst="roundRect">
            <a:avLst>
              <a:gd fmla="val 12000" name="adj"/>
            </a:avLst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cxnSp>
        <p:nvCxnSpPr>
          <p:cNvPr id="233" name="Google Shape;233;p22"/>
          <p:cNvCxnSpPr/>
          <p:nvPr/>
        </p:nvCxnSpPr>
        <p:spPr>
          <a:xfrm>
            <a:off x="1051560" y="1627632"/>
            <a:ext cx="0" cy="2596896"/>
          </a:xfrm>
          <a:prstGeom prst="straightConnector1">
            <a:avLst/>
          </a:prstGeom>
          <a:noFill/>
          <a:ln cap="flat" cmpd="sng" w="12700">
            <a:solidFill>
              <a:srgbClr val="9AA6B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4" name="Google Shape;234;p22"/>
          <p:cNvSpPr/>
          <p:nvPr/>
        </p:nvSpPr>
        <p:spPr>
          <a:xfrm>
            <a:off x="1988820" y="1170432"/>
            <a:ext cx="1417320" cy="457200"/>
          </a:xfrm>
          <a:prstGeom prst="roundRect">
            <a:avLst>
              <a:gd fmla="val 12000" name="adj"/>
            </a:avLst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Stub gRPC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(cliente)</a:t>
            </a:r>
            <a:endParaRPr/>
          </a:p>
        </p:txBody>
      </p:sp>
      <p:cxnSp>
        <p:nvCxnSpPr>
          <p:cNvPr id="235" name="Google Shape;235;p22"/>
          <p:cNvCxnSpPr/>
          <p:nvPr/>
        </p:nvCxnSpPr>
        <p:spPr>
          <a:xfrm>
            <a:off x="2697480" y="1627632"/>
            <a:ext cx="0" cy="2596896"/>
          </a:xfrm>
          <a:prstGeom prst="straightConnector1">
            <a:avLst/>
          </a:prstGeom>
          <a:noFill/>
          <a:ln cap="flat" cmpd="sng" w="12700">
            <a:solidFill>
              <a:srgbClr val="9AA6B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6" name="Google Shape;236;p22"/>
          <p:cNvSpPr/>
          <p:nvPr/>
        </p:nvSpPr>
        <p:spPr>
          <a:xfrm>
            <a:off x="4091939" y="1170432"/>
            <a:ext cx="1417320" cy="457200"/>
          </a:xfrm>
          <a:prstGeom prst="roundRect">
            <a:avLst>
              <a:gd fmla="val 12000" name="adj"/>
            </a:avLst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Stub gRPC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(servidor)</a:t>
            </a:r>
            <a:endParaRPr/>
          </a:p>
        </p:txBody>
      </p:sp>
      <p:cxnSp>
        <p:nvCxnSpPr>
          <p:cNvPr id="237" name="Google Shape;237;p22"/>
          <p:cNvCxnSpPr/>
          <p:nvPr/>
        </p:nvCxnSpPr>
        <p:spPr>
          <a:xfrm>
            <a:off x="4800600" y="1627632"/>
            <a:ext cx="0" cy="2596896"/>
          </a:xfrm>
          <a:prstGeom prst="straightConnector1">
            <a:avLst/>
          </a:prstGeom>
          <a:noFill/>
          <a:ln cap="flat" cmpd="sng" w="12700">
            <a:solidFill>
              <a:srgbClr val="9AA6B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8" name="Google Shape;238;p22"/>
          <p:cNvSpPr/>
          <p:nvPr/>
        </p:nvSpPr>
        <p:spPr>
          <a:xfrm>
            <a:off x="5737859" y="1170432"/>
            <a:ext cx="1417320" cy="457200"/>
          </a:xfrm>
          <a:prstGeom prst="roundRect">
            <a:avLst>
              <a:gd fmla="val 12000" name="adj"/>
            </a:avLst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Serviço</a:t>
            </a:r>
            <a:endParaRPr/>
          </a:p>
        </p:txBody>
      </p:sp>
      <p:cxnSp>
        <p:nvCxnSpPr>
          <p:cNvPr id="239" name="Google Shape;239;p22"/>
          <p:cNvCxnSpPr/>
          <p:nvPr/>
        </p:nvCxnSpPr>
        <p:spPr>
          <a:xfrm>
            <a:off x="6446520" y="1627632"/>
            <a:ext cx="0" cy="2596896"/>
          </a:xfrm>
          <a:prstGeom prst="straightConnector1">
            <a:avLst/>
          </a:prstGeom>
          <a:noFill/>
          <a:ln cap="flat" cmpd="sng" w="12700">
            <a:solidFill>
              <a:srgbClr val="9AA6B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0" name="Google Shape;240;p22"/>
          <p:cNvSpPr/>
          <p:nvPr/>
        </p:nvSpPr>
        <p:spPr>
          <a:xfrm>
            <a:off x="3108959" y="1664208"/>
            <a:ext cx="1280160" cy="237744"/>
          </a:xfrm>
          <a:prstGeom prst="roundRect">
            <a:avLst>
              <a:gd fmla="val 30000" name="adj"/>
            </a:avLst>
          </a:prstGeom>
          <a:solidFill>
            <a:srgbClr val="E7F1F9"/>
          </a:solidFill>
          <a:ln cap="flat" cmpd="sng" w="9525">
            <a:solidFill>
              <a:srgbClr val="81C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rede · HTTP/2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1005839" y="1993392"/>
            <a:ext cx="91440" cy="2121408"/>
          </a:xfrm>
          <a:prstGeom prst="rect">
            <a:avLst/>
          </a:prstGeom>
          <a:solidFill>
            <a:srgbClr val="81C2EA"/>
          </a:solidFill>
          <a:ln cap="flat" cmpd="sng" w="9525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651760" y="1993392"/>
            <a:ext cx="91440" cy="1975103"/>
          </a:xfrm>
          <a:prstGeom prst="rect">
            <a:avLst/>
          </a:prstGeom>
          <a:solidFill>
            <a:srgbClr val="81C2EA"/>
          </a:solidFill>
          <a:ln cap="flat" cmpd="sng" w="9525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4754880" y="2395728"/>
            <a:ext cx="91440" cy="1243584"/>
          </a:xfrm>
          <a:prstGeom prst="rect">
            <a:avLst/>
          </a:prstGeom>
          <a:solidFill>
            <a:srgbClr val="81C2EA"/>
          </a:solidFill>
          <a:ln cap="flat" cmpd="sng" w="9525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400800" y="2761488"/>
            <a:ext cx="91440" cy="548640"/>
          </a:xfrm>
          <a:prstGeom prst="rect">
            <a:avLst/>
          </a:prstGeom>
          <a:solidFill>
            <a:srgbClr val="81C2EA"/>
          </a:solidFill>
          <a:ln cap="flat" cmpd="sng" w="9525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22"/>
          <p:cNvCxnSpPr/>
          <p:nvPr/>
        </p:nvCxnSpPr>
        <p:spPr>
          <a:xfrm>
            <a:off x="1106424" y="2029968"/>
            <a:ext cx="1536192" cy="0"/>
          </a:xfrm>
          <a:prstGeom prst="straightConnector1">
            <a:avLst/>
          </a:prstGeom>
          <a:noFill/>
          <a:ln cap="flat" cmpd="sng" w="15875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p22"/>
          <p:cNvSpPr txBox="1"/>
          <p:nvPr/>
        </p:nvSpPr>
        <p:spPr>
          <a:xfrm>
            <a:off x="1014983" y="1815084"/>
            <a:ext cx="1719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1. soma(3, 4)</a:t>
            </a:r>
            <a:endParaRPr/>
          </a:p>
        </p:txBody>
      </p:sp>
      <p:cxnSp>
        <p:nvCxnSpPr>
          <p:cNvPr id="247" name="Google Shape;247;p22"/>
          <p:cNvCxnSpPr/>
          <p:nvPr/>
        </p:nvCxnSpPr>
        <p:spPr>
          <a:xfrm>
            <a:off x="2752344" y="2395728"/>
            <a:ext cx="1993392" cy="0"/>
          </a:xfrm>
          <a:prstGeom prst="straightConnector1">
            <a:avLst/>
          </a:prstGeom>
          <a:noFill/>
          <a:ln cap="flat" cmpd="sng" w="15875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p22"/>
          <p:cNvSpPr txBox="1"/>
          <p:nvPr/>
        </p:nvSpPr>
        <p:spPr>
          <a:xfrm>
            <a:off x="2660904" y="2180844"/>
            <a:ext cx="2176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2. requisição · Protobuf</a:t>
            </a:r>
            <a:endParaRPr/>
          </a:p>
        </p:txBody>
      </p:sp>
      <p:cxnSp>
        <p:nvCxnSpPr>
          <p:cNvPr id="249" name="Google Shape;249;p22"/>
          <p:cNvCxnSpPr/>
          <p:nvPr/>
        </p:nvCxnSpPr>
        <p:spPr>
          <a:xfrm>
            <a:off x="4855464" y="2761488"/>
            <a:ext cx="1536192" cy="0"/>
          </a:xfrm>
          <a:prstGeom prst="straightConnector1">
            <a:avLst/>
          </a:prstGeom>
          <a:noFill/>
          <a:ln cap="flat" cmpd="sng" w="15875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p22"/>
          <p:cNvSpPr txBox="1"/>
          <p:nvPr/>
        </p:nvSpPr>
        <p:spPr>
          <a:xfrm>
            <a:off x="4764024" y="2546604"/>
            <a:ext cx="1719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3. invoca soma(3,4)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6556248" y="2962656"/>
            <a:ext cx="868680" cy="310896"/>
          </a:xfrm>
          <a:prstGeom prst="roundRect">
            <a:avLst>
              <a:gd fmla="val 12000" name="adj"/>
            </a:avLst>
          </a:prstGeom>
          <a:solidFill>
            <a:srgbClr val="E8F3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onsolas"/>
                <a:ea typeface="Consolas"/>
                <a:cs typeface="Consolas"/>
                <a:sym typeface="Consolas"/>
              </a:rPr>
              <a:t>3 + 4 = 7</a:t>
            </a:r>
            <a:endParaRPr/>
          </a:p>
        </p:txBody>
      </p:sp>
      <p:cxnSp>
        <p:nvCxnSpPr>
          <p:cNvPr id="252" name="Google Shape;252;p22"/>
          <p:cNvCxnSpPr/>
          <p:nvPr/>
        </p:nvCxnSpPr>
        <p:spPr>
          <a:xfrm rot="10800000">
            <a:off x="4855464" y="3310128"/>
            <a:ext cx="1536192" cy="0"/>
          </a:xfrm>
          <a:prstGeom prst="straightConnector1">
            <a:avLst/>
          </a:prstGeom>
          <a:noFill/>
          <a:ln cap="flat" cmpd="sng" w="15875">
            <a:solidFill>
              <a:srgbClr val="9AA6B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53" name="Google Shape;253;p22"/>
          <p:cNvSpPr txBox="1"/>
          <p:nvPr/>
        </p:nvSpPr>
        <p:spPr>
          <a:xfrm>
            <a:off x="4764024" y="3095244"/>
            <a:ext cx="1719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5. retorna 7</a:t>
            </a:r>
            <a:endParaRPr/>
          </a:p>
        </p:txBody>
      </p:sp>
      <p:cxnSp>
        <p:nvCxnSpPr>
          <p:cNvPr id="254" name="Google Shape;254;p22"/>
          <p:cNvCxnSpPr/>
          <p:nvPr/>
        </p:nvCxnSpPr>
        <p:spPr>
          <a:xfrm rot="10800000">
            <a:off x="2752344" y="3657600"/>
            <a:ext cx="1993392" cy="0"/>
          </a:xfrm>
          <a:prstGeom prst="straightConnector1">
            <a:avLst/>
          </a:prstGeom>
          <a:noFill/>
          <a:ln cap="flat" cmpd="sng" w="15875">
            <a:solidFill>
              <a:srgbClr val="9AA6B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55" name="Google Shape;255;p22"/>
          <p:cNvSpPr txBox="1"/>
          <p:nvPr/>
        </p:nvSpPr>
        <p:spPr>
          <a:xfrm>
            <a:off x="2660904" y="3442716"/>
            <a:ext cx="2176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 resposta · Protobuf</a:t>
            </a:r>
            <a:endParaRPr/>
          </a:p>
        </p:txBody>
      </p:sp>
      <p:cxnSp>
        <p:nvCxnSpPr>
          <p:cNvPr id="256" name="Google Shape;256;p22"/>
          <p:cNvCxnSpPr/>
          <p:nvPr/>
        </p:nvCxnSpPr>
        <p:spPr>
          <a:xfrm rot="10800000">
            <a:off x="1106424" y="4005072"/>
            <a:ext cx="1536192" cy="0"/>
          </a:xfrm>
          <a:prstGeom prst="straightConnector1">
            <a:avLst/>
          </a:prstGeom>
          <a:noFill/>
          <a:ln cap="flat" cmpd="sng" w="15875">
            <a:solidFill>
              <a:srgbClr val="9AA6B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57" name="Google Shape;257;p22"/>
          <p:cNvSpPr txBox="1"/>
          <p:nvPr/>
        </p:nvSpPr>
        <p:spPr>
          <a:xfrm>
            <a:off x="1014983" y="3790187"/>
            <a:ext cx="1719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7. resultado = 7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310896" y="4315968"/>
            <a:ext cx="3200400" cy="274320"/>
          </a:xfrm>
          <a:prstGeom prst="roundRect">
            <a:avLst>
              <a:gd fmla="val 20000" name="adj"/>
            </a:avLst>
          </a:prstGeom>
          <a:solidFill>
            <a:srgbClr val="F2F5F8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Chamada unária = síncrona: o cliente fica bloqueado (1→7).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4480560" y="4334256"/>
            <a:ext cx="2852927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linha cheia = envio  ·  tracejada = retorno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Arquitetura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310896" y="1389888"/>
            <a:ext cx="3145536" cy="1810512"/>
          </a:xfrm>
          <a:prstGeom prst="roundRect">
            <a:avLst>
              <a:gd fmla="val 5000" name="adj"/>
            </a:avLst>
          </a:prstGeom>
          <a:solidFill>
            <a:srgbClr val="E7F1F9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438912" y="1472184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PROCESSO CLIENTE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4059936" y="1389888"/>
            <a:ext cx="3145536" cy="1810512"/>
          </a:xfrm>
          <a:prstGeom prst="roundRect">
            <a:avLst>
              <a:gd fmla="val 5000" name="adj"/>
            </a:avLst>
          </a:prstGeom>
          <a:solidFill>
            <a:srgbClr val="E7F1F9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4187952" y="1472184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PROCESSO SERVIDOR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475488" y="1901951"/>
            <a:ext cx="1207008" cy="87782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chama soma(3,4)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2084832" y="1901951"/>
            <a:ext cx="1207008" cy="877824"/>
          </a:xfrm>
          <a:prstGeom prst="roundRect">
            <a:avLst>
              <a:gd fmla="val 10000" name="adj"/>
            </a:avLst>
          </a:prstGeom>
          <a:solidFill>
            <a:srgbClr val="81C2EA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Stub cliente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empacota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4224528" y="1901951"/>
            <a:ext cx="1207008" cy="877824"/>
          </a:xfrm>
          <a:prstGeom prst="roundRect">
            <a:avLst>
              <a:gd fmla="val 10000" name="adj"/>
            </a:avLst>
          </a:prstGeom>
          <a:solidFill>
            <a:srgbClr val="81C2EA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Stub servidor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desempacota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5833872" y="1901951"/>
            <a:ext cx="1207008" cy="87782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Serviço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executa 3+4=7</a:t>
            </a:r>
            <a:endParaRPr/>
          </a:p>
        </p:txBody>
      </p:sp>
      <p:cxnSp>
        <p:nvCxnSpPr>
          <p:cNvPr id="273" name="Google Shape;273;p23"/>
          <p:cNvCxnSpPr/>
          <p:nvPr/>
        </p:nvCxnSpPr>
        <p:spPr>
          <a:xfrm>
            <a:off x="1700784" y="2176271"/>
            <a:ext cx="365760" cy="0"/>
          </a:xfrm>
          <a:prstGeom prst="straightConnector1">
            <a:avLst/>
          </a:prstGeom>
          <a:noFill/>
          <a:ln cap="flat" cmpd="sng" w="2285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p23"/>
          <p:cNvCxnSpPr/>
          <p:nvPr/>
        </p:nvCxnSpPr>
        <p:spPr>
          <a:xfrm rot="10800000">
            <a:off x="1700784" y="2505456"/>
            <a:ext cx="365760" cy="0"/>
          </a:xfrm>
          <a:prstGeom prst="straightConnector1">
            <a:avLst/>
          </a:prstGeom>
          <a:noFill/>
          <a:ln cap="flat" cmpd="sng" w="203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23"/>
          <p:cNvCxnSpPr/>
          <p:nvPr/>
        </p:nvCxnSpPr>
        <p:spPr>
          <a:xfrm>
            <a:off x="3310128" y="2176271"/>
            <a:ext cx="896112" cy="0"/>
          </a:xfrm>
          <a:prstGeom prst="straightConnector1">
            <a:avLst/>
          </a:prstGeom>
          <a:noFill/>
          <a:ln cap="flat" cmpd="sng" w="2285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23"/>
          <p:cNvCxnSpPr/>
          <p:nvPr/>
        </p:nvCxnSpPr>
        <p:spPr>
          <a:xfrm rot="10800000">
            <a:off x="3310128" y="2505456"/>
            <a:ext cx="896112" cy="0"/>
          </a:xfrm>
          <a:prstGeom prst="straightConnector1">
            <a:avLst/>
          </a:prstGeom>
          <a:noFill/>
          <a:ln cap="flat" cmpd="sng" w="203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p23"/>
          <p:cNvCxnSpPr/>
          <p:nvPr/>
        </p:nvCxnSpPr>
        <p:spPr>
          <a:xfrm>
            <a:off x="5449824" y="2176271"/>
            <a:ext cx="365760" cy="0"/>
          </a:xfrm>
          <a:prstGeom prst="straightConnector1">
            <a:avLst/>
          </a:prstGeom>
          <a:noFill/>
          <a:ln cap="flat" cmpd="sng" w="22850">
            <a:solidFill>
              <a:srgbClr val="005C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23"/>
          <p:cNvCxnSpPr/>
          <p:nvPr/>
        </p:nvCxnSpPr>
        <p:spPr>
          <a:xfrm rot="10800000">
            <a:off x="5449824" y="2505456"/>
            <a:ext cx="365760" cy="0"/>
          </a:xfrm>
          <a:prstGeom prst="straightConnector1">
            <a:avLst/>
          </a:prstGeom>
          <a:noFill/>
          <a:ln cap="flat" cmpd="sng" w="20300">
            <a:solidFill>
              <a:srgbClr val="8A98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p23"/>
          <p:cNvSpPr txBox="1"/>
          <p:nvPr/>
        </p:nvSpPr>
        <p:spPr>
          <a:xfrm>
            <a:off x="3182112" y="1920239"/>
            <a:ext cx="1152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3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requisição · HTTP/2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3182112" y="2615183"/>
            <a:ext cx="1152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resposta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310896" y="3328416"/>
            <a:ext cx="7022592" cy="822960"/>
          </a:xfrm>
          <a:prstGeom prst="roundRect">
            <a:avLst>
              <a:gd fmla="val 6000" name="adj"/>
            </a:avLst>
          </a:prstGeom>
          <a:solidFill>
            <a:srgbClr val="F2F5F8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310896" y="3328416"/>
            <a:ext cx="73152" cy="82296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530352" y="3438144"/>
            <a:ext cx="66202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stub do cliente </a:t>
            </a:r>
            <a:r>
              <a:rPr b="1" i="0" lang="en-US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empacota (marshalling)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os argumentos; o do servidor </a:t>
            </a:r>
            <a:r>
              <a:rPr b="1" i="0" lang="en-US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desempacota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e chama o serviço.</a:t>
            </a:r>
            <a:endParaRPr/>
          </a:p>
          <a:p>
            <a:pPr indent="0" lvl="0" marL="0" marR="0" rtl="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Ambos são </a:t>
            </a:r>
            <a:r>
              <a:rPr b="1" i="0" lang="en-US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gerados pelo protoc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 partir do </a:t>
            </a:r>
            <a:r>
              <a:rPr b="1" i="0" lang="en-US" sz="1000" u="none" cap="none" strike="noStrik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.proto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— o programador só escreve </a:t>
            </a:r>
            <a:r>
              <a:rPr b="1" i="0" lang="en-US" sz="950" u="none" cap="none" strike="noStrik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soma(3, 4)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(transparência).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Semântica de chamada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310896" y="1170432"/>
            <a:ext cx="7022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Uma chamada remota pode falhar (rede ou servidor). As garantias dependem das medidas de tolerância a falhas (Coulouris, Fig. 5.9):</a:t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310896" y="1700784"/>
            <a:ext cx="2286000" cy="52578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Semântica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2596896" y="1700784"/>
            <a:ext cx="1371600" cy="52578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Reenvia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requisição</a:t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3968496" y="1700784"/>
            <a:ext cx="1371600" cy="52578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Filtra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duplicatas</a:t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5340096" y="1700784"/>
            <a:ext cx="1993392" cy="52578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310896" y="2226564"/>
            <a:ext cx="22860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AA6B2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1" i="0" lang="en-US" sz="9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Talvez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2596896" y="2226564"/>
            <a:ext cx="13716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3968496" y="2226564"/>
            <a:ext cx="13716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5340096" y="2226564"/>
            <a:ext cx="1993392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pode executar ou não</a:t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>
            <a:off x="310896" y="2647188"/>
            <a:ext cx="2286000" cy="420624"/>
          </a:xfrm>
          <a:prstGeom prst="rect">
            <a:avLst/>
          </a:prstGeom>
          <a:solidFill>
            <a:srgbClr val="E7F1F9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6A22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1" i="0" lang="en-US" sz="9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Pelo menos uma vez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2596896" y="2647188"/>
            <a:ext cx="1371600" cy="420624"/>
          </a:xfrm>
          <a:prstGeom prst="rect">
            <a:avLst/>
          </a:prstGeom>
          <a:solidFill>
            <a:srgbClr val="E7F1F9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3968496" y="2647188"/>
            <a:ext cx="1371600" cy="420624"/>
          </a:xfrm>
          <a:prstGeom prst="rect">
            <a:avLst/>
          </a:prstGeom>
          <a:solidFill>
            <a:srgbClr val="E7F1F9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5340096" y="2647188"/>
            <a:ext cx="1993392" cy="420624"/>
          </a:xfrm>
          <a:prstGeom prst="rect">
            <a:avLst/>
          </a:prstGeom>
          <a:solidFill>
            <a:srgbClr val="E7F1F9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executa 1+ vez → exige idempotência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310896" y="3067812"/>
            <a:ext cx="22860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1" i="0" lang="en-US" sz="9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No máximo uma vez</a:t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2596896" y="3067812"/>
            <a:ext cx="13716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3968496" y="3067812"/>
            <a:ext cx="13716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5340096" y="3067812"/>
            <a:ext cx="1993392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executa no máximo uma vez</a:t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310896" y="3634740"/>
            <a:ext cx="7022592" cy="841248"/>
          </a:xfrm>
          <a:prstGeom prst="roundRect">
            <a:avLst>
              <a:gd fmla="val 6000" name="adj"/>
            </a:avLst>
          </a:prstGeom>
          <a:solidFill>
            <a:srgbClr val="E7F1F9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310896" y="3634740"/>
            <a:ext cx="73152" cy="84124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530352" y="3726180"/>
            <a:ext cx="66202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No gRPC:</a:t>
            </a: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repetir uma chamada (retry) pode reexecutá-la — por isso prefira </a:t>
            </a:r>
            <a:r>
              <a:rPr b="1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operações idempotentes</a:t>
            </a: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deadlines/timeouts</a:t>
            </a: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en-US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retry policies</a:t>
            </a: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para tratar falhas parciais.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Exemplo: soma remota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310896" y="1170432"/>
            <a:ext cx="7022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Cenário: </a:t>
            </a: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cliente chama </a:t>
            </a:r>
            <a:r>
              <a:rPr b="1" i="0" lang="en-US" sz="1050" u="none" cap="none" strike="noStrik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stub.Soma(a=3, b=4)</a:t>
            </a: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e recebe 7 — o serviço roda em outra máquina.</a:t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310896" y="1664208"/>
            <a:ext cx="2157984" cy="1737360"/>
          </a:xfrm>
          <a:prstGeom prst="roundRect">
            <a:avLst>
              <a:gd fmla="val 6000" name="adj"/>
            </a:avLst>
          </a:prstGeom>
          <a:solidFill>
            <a:srgbClr val="F2F5F8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310896" y="1664208"/>
            <a:ext cx="2157984" cy="310896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ENTRADA</a:t>
            </a:r>
            <a:r>
              <a:rPr b="0" i="0" lang="en-US" sz="750" u="none" cap="none" strike="noStrike">
                <a:solidFill>
                  <a:srgbClr val="D6E6F2"/>
                </a:solidFill>
                <a:latin typeface="Arial"/>
                <a:ea typeface="Arial"/>
                <a:cs typeface="Arial"/>
                <a:sym typeface="Arial"/>
              </a:rPr>
              <a:t>  · cliente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457200" y="2048256"/>
            <a:ext cx="188366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Chama o stub gerado: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Soma(a=3, b=4)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Protobuf serializa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 envia por HTTP/2.</a:t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2487168" y="2414016"/>
            <a:ext cx="237744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5C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2743199" y="1664208"/>
            <a:ext cx="2157984" cy="1737360"/>
          </a:xfrm>
          <a:prstGeom prst="roundRect">
            <a:avLst>
              <a:gd fmla="val 6000" name="adj"/>
            </a:avLst>
          </a:prstGeom>
          <a:solidFill>
            <a:srgbClr val="F2F5F8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2743199" y="1664208"/>
            <a:ext cx="2157984" cy="310896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PROCESSAMENTO</a:t>
            </a:r>
            <a:r>
              <a:rPr b="0" i="0" lang="en-US" sz="750" u="none" cap="none" strike="noStrike">
                <a:solidFill>
                  <a:srgbClr val="D6E6F2"/>
                </a:solidFill>
                <a:latin typeface="Arial"/>
                <a:ea typeface="Arial"/>
                <a:cs typeface="Arial"/>
                <a:sym typeface="Arial"/>
              </a:rPr>
              <a:t>  · servidor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2889503" y="2048256"/>
            <a:ext cx="188366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Desserializa, invoca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serviço e executa: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3 + 4 = 7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serializa a resposta.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4919471" y="2414016"/>
            <a:ext cx="237744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5C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5175503" y="1664208"/>
            <a:ext cx="2157984" cy="1737360"/>
          </a:xfrm>
          <a:prstGeom prst="roundRect">
            <a:avLst>
              <a:gd fmla="val 6000" name="adj"/>
            </a:avLst>
          </a:prstGeom>
          <a:solidFill>
            <a:srgbClr val="F2F5F8"/>
          </a:solidFill>
          <a:ln cap="flat" cmpd="sng" w="12700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5175503" y="1664208"/>
            <a:ext cx="2157984" cy="3108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SAÍDA</a:t>
            </a:r>
            <a:r>
              <a:rPr b="0" i="0" lang="en-US" sz="750" u="none" cap="none" strike="noStrike">
                <a:solidFill>
                  <a:srgbClr val="D6E6F2"/>
                </a:solidFill>
                <a:latin typeface="Arial"/>
                <a:ea typeface="Arial"/>
                <a:cs typeface="Arial"/>
                <a:sym typeface="Arial"/>
              </a:rPr>
              <a:t>  · cliente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5321807" y="2048256"/>
            <a:ext cx="188366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stub desserializa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 retorna ao programa: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E7D32"/>
                </a:solidFill>
                <a:latin typeface="Consolas"/>
                <a:ea typeface="Consolas"/>
                <a:cs typeface="Consolas"/>
                <a:sym typeface="Consolas"/>
              </a:rPr>
              <a:t>resultado = 7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8A98A8"/>
                </a:solidFill>
                <a:latin typeface="Arial"/>
                <a:ea typeface="Arial"/>
                <a:cs typeface="Arial"/>
                <a:sym typeface="Arial"/>
              </a:rPr>
              <a:t>(esteve bloqueado)</a:t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310896" y="3547872"/>
            <a:ext cx="7022592" cy="457200"/>
          </a:xfrm>
          <a:prstGeom prst="roundRect">
            <a:avLst>
              <a:gd fmla="val 6000" name="adj"/>
            </a:avLst>
          </a:prstGeom>
          <a:solidFill>
            <a:srgbClr val="E7F1F9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493776" y="3547872"/>
            <a:ext cx="66568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Para quem programa, foi só </a:t>
            </a:r>
            <a:r>
              <a:rPr b="1" i="0" lang="en-US" sz="1000" u="none" cap="none" strike="noStrik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Soma(3, 4)</a:t>
            </a: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Protobuf, HTTP/2 e a rede ficaram escondidos — essa é a </a:t>
            </a:r>
            <a:r>
              <a:rPr b="1" i="0" lang="en-US" sz="10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r>
              <a:rPr b="0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do RPC.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Estudo de caso: gRPC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310896" y="1170432"/>
            <a:ext cx="7022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Onde é usado: </a:t>
            </a: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Google, Netflix, Square, Cisco e no </a:t>
            </a:r>
            <a:r>
              <a:rPr b="1" i="0" lang="en-US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Kubernetes / etcd</a:t>
            </a: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— projeto da CNCF.</a:t>
            </a:r>
            <a:endParaRPr/>
          </a:p>
        </p:txBody>
      </p:sp>
      <p:sp>
        <p:nvSpPr>
          <p:cNvPr id="334" name="Google Shape;334;p26"/>
          <p:cNvSpPr/>
          <p:nvPr/>
        </p:nvSpPr>
        <p:spPr>
          <a:xfrm>
            <a:off x="310896" y="1938528"/>
            <a:ext cx="1051560" cy="603504"/>
          </a:xfrm>
          <a:prstGeom prst="roundRect">
            <a:avLst>
              <a:gd fmla="val 10000" name="adj"/>
            </a:avLst>
          </a:prstGeom>
          <a:solidFill>
            <a:srgbClr val="E7F1F9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app / web</a:t>
            </a:r>
            <a:endParaRPr/>
          </a:p>
        </p:txBody>
      </p:sp>
      <p:sp>
        <p:nvSpPr>
          <p:cNvPr id="335" name="Google Shape;335;p26"/>
          <p:cNvSpPr/>
          <p:nvPr/>
        </p:nvSpPr>
        <p:spPr>
          <a:xfrm>
            <a:off x="1728216" y="1938528"/>
            <a:ext cx="1298448" cy="60350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borda</a:t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1389888" y="2121408"/>
            <a:ext cx="301752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A9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1353312" y="1755648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REST</a:t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3236976" y="1627632"/>
            <a:ext cx="4096511" cy="1298448"/>
          </a:xfrm>
          <a:prstGeom prst="roundRect">
            <a:avLst>
              <a:gd fmla="val 5000" name="adj"/>
            </a:avLst>
          </a:prstGeom>
          <a:solidFill>
            <a:srgbClr val="F2F5F8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3383280" y="1700784"/>
            <a:ext cx="38221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Microsserviços — AWS (EKS / ECS)</a:t>
            </a:r>
            <a:endParaRPr/>
          </a:p>
        </p:txBody>
      </p:sp>
      <p:sp>
        <p:nvSpPr>
          <p:cNvPr id="340" name="Google Shape;340;p26"/>
          <p:cNvSpPr/>
          <p:nvPr/>
        </p:nvSpPr>
        <p:spPr>
          <a:xfrm>
            <a:off x="3035808" y="2121408"/>
            <a:ext cx="192024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A9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3419856" y="2103120"/>
            <a:ext cx="960120" cy="60350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4805172" y="2103120"/>
            <a:ext cx="960120" cy="60350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endParaRPr/>
          </a:p>
        </p:txBody>
      </p:sp>
      <p:cxnSp>
        <p:nvCxnSpPr>
          <p:cNvPr id="343" name="Google Shape;343;p26"/>
          <p:cNvCxnSpPr/>
          <p:nvPr/>
        </p:nvCxnSpPr>
        <p:spPr>
          <a:xfrm>
            <a:off x="4379976" y="2404872"/>
            <a:ext cx="425196" cy="0"/>
          </a:xfrm>
          <a:prstGeom prst="straightConnector1">
            <a:avLst/>
          </a:prstGeom>
          <a:noFill/>
          <a:ln cap="flat" cmpd="sng" w="19050">
            <a:solidFill>
              <a:srgbClr val="005CA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4" name="Google Shape;344;p26"/>
          <p:cNvSpPr txBox="1"/>
          <p:nvPr/>
        </p:nvSpPr>
        <p:spPr>
          <a:xfrm>
            <a:off x="4288536" y="2432304"/>
            <a:ext cx="6080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gRPC</a:t>
            </a: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6190488" y="2103120"/>
            <a:ext cx="960120" cy="60350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5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Pagam.</a:t>
            </a:r>
            <a:endParaRPr/>
          </a:p>
        </p:txBody>
      </p:sp>
      <p:cxnSp>
        <p:nvCxnSpPr>
          <p:cNvPr id="346" name="Google Shape;346;p26"/>
          <p:cNvCxnSpPr/>
          <p:nvPr/>
        </p:nvCxnSpPr>
        <p:spPr>
          <a:xfrm>
            <a:off x="5765292" y="2404872"/>
            <a:ext cx="425196" cy="0"/>
          </a:xfrm>
          <a:prstGeom prst="straightConnector1">
            <a:avLst/>
          </a:prstGeom>
          <a:noFill/>
          <a:ln cap="flat" cmpd="sng" w="19050">
            <a:solidFill>
              <a:srgbClr val="005CA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7" name="Google Shape;347;p26"/>
          <p:cNvSpPr txBox="1"/>
          <p:nvPr/>
        </p:nvSpPr>
        <p:spPr>
          <a:xfrm>
            <a:off x="5673852" y="2432304"/>
            <a:ext cx="60807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gRPC</a:t>
            </a:r>
            <a:endParaRPr/>
          </a:p>
        </p:txBody>
      </p:sp>
      <p:sp>
        <p:nvSpPr>
          <p:cNvPr id="348" name="Google Shape;348;p26"/>
          <p:cNvSpPr/>
          <p:nvPr/>
        </p:nvSpPr>
        <p:spPr>
          <a:xfrm>
            <a:off x="310896" y="3054096"/>
            <a:ext cx="1645919" cy="365760"/>
          </a:xfrm>
          <a:prstGeom prst="roundRect">
            <a:avLst>
              <a:gd fmla="val 30000" name="adj"/>
            </a:avLst>
          </a:prstGeom>
          <a:solidFill>
            <a:srgbClr val="E7F1F9"/>
          </a:solidFill>
          <a:ln cap="flat" cmpd="sng" w="9525">
            <a:solidFill>
              <a:srgbClr val="81C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-US" sz="81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Desempenho (HTTP/2)</a:t>
            </a:r>
            <a:endParaRPr/>
          </a:p>
        </p:txBody>
      </p:sp>
      <p:sp>
        <p:nvSpPr>
          <p:cNvPr id="349" name="Google Shape;349;p26"/>
          <p:cNvSpPr/>
          <p:nvPr/>
        </p:nvSpPr>
        <p:spPr>
          <a:xfrm>
            <a:off x="2103120" y="3054096"/>
            <a:ext cx="1645919" cy="365760"/>
          </a:xfrm>
          <a:prstGeom prst="roundRect">
            <a:avLst>
              <a:gd fmla="val 30000" name="adj"/>
            </a:avLst>
          </a:prstGeom>
          <a:solidFill>
            <a:srgbClr val="E7F1F9"/>
          </a:solidFill>
          <a:ln cap="flat" cmpd="sng" w="9525">
            <a:solidFill>
              <a:srgbClr val="81C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-US" sz="81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Contratos .proto</a:t>
            </a:r>
            <a:endParaRPr/>
          </a:p>
        </p:txBody>
      </p:sp>
      <p:sp>
        <p:nvSpPr>
          <p:cNvPr id="350" name="Google Shape;350;p26"/>
          <p:cNvSpPr/>
          <p:nvPr/>
        </p:nvSpPr>
        <p:spPr>
          <a:xfrm>
            <a:off x="3895344" y="3054096"/>
            <a:ext cx="1645919" cy="365760"/>
          </a:xfrm>
          <a:prstGeom prst="roundRect">
            <a:avLst>
              <a:gd fmla="val 30000" name="adj"/>
            </a:avLst>
          </a:prstGeom>
          <a:solidFill>
            <a:srgbClr val="E7F1F9"/>
          </a:solidFill>
          <a:ln cap="flat" cmpd="sng" w="9525">
            <a:solidFill>
              <a:srgbClr val="81C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-US" sz="81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Multi-linguagem</a:t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5687567" y="3054096"/>
            <a:ext cx="1645919" cy="365760"/>
          </a:xfrm>
          <a:prstGeom prst="roundRect">
            <a:avLst>
              <a:gd fmla="val 30000" name="adj"/>
            </a:avLst>
          </a:prstGeom>
          <a:solidFill>
            <a:srgbClr val="E7F1F9"/>
          </a:solidFill>
          <a:ln cap="flat" cmpd="sng" w="9525">
            <a:solidFill>
              <a:srgbClr val="81C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-US" sz="81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310896" y="3547872"/>
            <a:ext cx="7022592" cy="457200"/>
          </a:xfrm>
          <a:prstGeom prst="roundRect">
            <a:avLst>
              <a:gd fmla="val 6000" name="adj"/>
            </a:avLst>
          </a:prstGeom>
          <a:solidFill>
            <a:srgbClr val="F2F5F8"/>
          </a:solidFill>
          <a:ln cap="flat" cmpd="sng" w="9525">
            <a:solidFill>
              <a:srgbClr val="C4D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6"/>
          <p:cNvSpPr txBox="1"/>
          <p:nvPr/>
        </p:nvSpPr>
        <p:spPr>
          <a:xfrm>
            <a:off x="493776" y="3547872"/>
            <a:ext cx="66568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5CA1"/>
                </a:solidFill>
                <a:latin typeface="Arial"/>
                <a:ea typeface="Arial"/>
                <a:cs typeface="Arial"/>
                <a:sym typeface="Arial"/>
              </a:rPr>
              <a:t>No projeto AWS: 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REST/API Gateway na </a:t>
            </a:r>
            <a:r>
              <a:rPr b="1" i="0" lang="en-US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borda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; entre microsserviços, </a:t>
            </a:r>
            <a:r>
              <a:rPr b="1" i="0" lang="en-US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gRPC</a:t>
            </a: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(rápido e tipado).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Comunicação Indireta</a:t>
            </a:r>
            <a:endParaRPr/>
          </a:p>
        </p:txBody>
      </p:sp>
      <p:sp>
        <p:nvSpPr>
          <p:cNvPr id="359" name="Google Shape;359;p27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Definição</a:t>
            </a:r>
            <a:endParaRPr/>
          </a:p>
        </p:txBody>
      </p:sp>
      <p:sp>
        <p:nvSpPr>
          <p:cNvPr id="360" name="Google Shape;360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28"/>
          <p:cNvSpPr txBox="1"/>
          <p:nvPr>
            <p:ph type="title"/>
          </p:nvPr>
        </p:nvSpPr>
        <p:spPr>
          <a:xfrm>
            <a:off x="1157075" y="1450825"/>
            <a:ext cx="59793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Todos os problemas na ciência da computação podem ser resolvidos por outro nível de indireção.</a:t>
            </a:r>
            <a:endParaRPr/>
          </a:p>
        </p:txBody>
      </p:sp>
      <p:sp>
        <p:nvSpPr>
          <p:cNvPr id="367" name="Google Shape;367;p28"/>
          <p:cNvSpPr txBox="1"/>
          <p:nvPr>
            <p:ph idx="1" type="subTitle"/>
          </p:nvPr>
        </p:nvSpPr>
        <p:spPr>
          <a:xfrm>
            <a:off x="1565854" y="4042972"/>
            <a:ext cx="6460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Roger Needham, Maurice Wilkes e David Wheeler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Comunicação Indireta</a:t>
            </a:r>
            <a:endParaRPr/>
          </a:p>
        </p:txBody>
      </p:sp>
      <p:sp>
        <p:nvSpPr>
          <p:cNvPr id="373" name="Google Shape;373;p29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Desacoplamento espacial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Desacoplamento temporal</a:t>
            </a:r>
            <a:endParaRPr/>
          </a:p>
        </p:txBody>
      </p:sp>
      <p:sp>
        <p:nvSpPr>
          <p:cNvPr id="374" name="Google Shape;374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Comunicação Indireta</a:t>
            </a:r>
            <a:endParaRPr/>
          </a:p>
        </p:txBody>
      </p:sp>
      <p:sp>
        <p:nvSpPr>
          <p:cNvPr id="380" name="Google Shape;380;p30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2" name="Google Shape;3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100" y="1152475"/>
            <a:ext cx="6962699" cy="374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31"/>
          <p:cNvSpPr txBox="1"/>
          <p:nvPr>
            <p:ph type="title"/>
          </p:nvPr>
        </p:nvSpPr>
        <p:spPr>
          <a:xfrm>
            <a:off x="1157075" y="1450825"/>
            <a:ext cx="5979300" cy="23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Não há um problema de desempenho que não possa ser resolvido pela eliminação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de um nível de indireção.</a:t>
            </a:r>
            <a:endParaRPr/>
          </a:p>
        </p:txBody>
      </p:sp>
      <p:sp>
        <p:nvSpPr>
          <p:cNvPr id="389" name="Google Shape;389;p31"/>
          <p:cNvSpPr txBox="1"/>
          <p:nvPr>
            <p:ph idx="1" type="subTitle"/>
          </p:nvPr>
        </p:nvSpPr>
        <p:spPr>
          <a:xfrm>
            <a:off x="1565854" y="4042972"/>
            <a:ext cx="6460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Jim Gray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95" name="Google Shape;395;p32"/>
          <p:cNvSpPr txBox="1"/>
          <p:nvPr>
            <p:ph idx="1" type="body"/>
          </p:nvPr>
        </p:nvSpPr>
        <p:spPr>
          <a:xfrm>
            <a:off x="624850" y="1447025"/>
            <a:ext cx="36111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32"/>
          <p:cNvSpPr txBox="1"/>
          <p:nvPr>
            <p:ph idx="2" type="body"/>
          </p:nvPr>
        </p:nvSpPr>
        <p:spPr>
          <a:xfrm>
            <a:off x="4832400" y="1447075"/>
            <a:ext cx="36867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"/>
          <p:cNvSpPr txBox="1"/>
          <p:nvPr>
            <p:ph type="title"/>
          </p:nvPr>
        </p:nvSpPr>
        <p:spPr>
          <a:xfrm>
            <a:off x="3817050" y="450150"/>
            <a:ext cx="4783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Conclusão</a:t>
            </a:r>
            <a:endParaRPr/>
          </a:p>
        </p:txBody>
      </p:sp>
      <p:sp>
        <p:nvSpPr>
          <p:cNvPr id="403" name="Google Shape;403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"/>
          <p:cNvSpPr txBox="1"/>
          <p:nvPr>
            <p:ph idx="4294967295" type="ctrTitle"/>
          </p:nvPr>
        </p:nvSpPr>
        <p:spPr>
          <a:xfrm>
            <a:off x="3219763" y="3376804"/>
            <a:ext cx="2696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email</a:t>
            </a:r>
            <a:endParaRPr b="0" i="0" sz="1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4"/>
          <p:cNvSpPr txBox="1"/>
          <p:nvPr>
            <p:ph idx="4294967295" type="title"/>
          </p:nvPr>
        </p:nvSpPr>
        <p:spPr>
          <a:xfrm>
            <a:off x="455700" y="586425"/>
            <a:ext cx="82326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US" sz="7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Obrigado!</a:t>
            </a:r>
            <a:endParaRPr b="0" sz="7200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pic>
        <p:nvPicPr>
          <p:cNvPr id="410" name="Google Shape;410;p34" title="INF-branco.png"/>
          <p:cNvPicPr preferRelativeResize="0"/>
          <p:nvPr/>
        </p:nvPicPr>
        <p:blipFill rotWithShape="1">
          <a:blip r:embed="rId3">
            <a:alphaModFix/>
          </a:blip>
          <a:srcRect b="29268" l="7227" r="6944" t="29176"/>
          <a:stretch/>
        </p:blipFill>
        <p:spPr>
          <a:xfrm>
            <a:off x="3709187" y="4109575"/>
            <a:ext cx="1717263" cy="62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4"/>
          <p:cNvSpPr txBox="1"/>
          <p:nvPr>
            <p:ph idx="4294967295" type="subTitle"/>
          </p:nvPr>
        </p:nvSpPr>
        <p:spPr>
          <a:xfrm>
            <a:off x="856813" y="2154900"/>
            <a:ext cx="74220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Título</a:t>
            </a:r>
            <a:endParaRPr b="0" i="0" sz="2300" u="none" cap="none" strike="noStrike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F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